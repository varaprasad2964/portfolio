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4" r:id="rId1"/>
  </p:sldMasterIdLst>
  <p:sldIdLst>
    <p:sldId id="256" r:id="rId2"/>
    <p:sldId id="283" r:id="rId3"/>
    <p:sldId id="257" r:id="rId4"/>
    <p:sldId id="258" r:id="rId5"/>
    <p:sldId id="259" r:id="rId6"/>
    <p:sldId id="260" r:id="rId7"/>
    <p:sldId id="261" r:id="rId8"/>
    <p:sldId id="262" r:id="rId9"/>
    <p:sldId id="263" r:id="rId10"/>
    <p:sldId id="284" r:id="rId11"/>
    <p:sldId id="286" r:id="rId12"/>
    <p:sldId id="264" r:id="rId13"/>
    <p:sldId id="265" r:id="rId14"/>
    <p:sldId id="266" r:id="rId15"/>
    <p:sldId id="292" r:id="rId16"/>
    <p:sldId id="293" r:id="rId17"/>
    <p:sldId id="294" r:id="rId18"/>
    <p:sldId id="295" r:id="rId19"/>
    <p:sldId id="296" r:id="rId20"/>
    <p:sldId id="297" r:id="rId21"/>
    <p:sldId id="299" r:id="rId22"/>
    <p:sldId id="302" r:id="rId23"/>
    <p:sldId id="303" r:id="rId24"/>
    <p:sldId id="301" r:id="rId25"/>
    <p:sldId id="304" r:id="rId26"/>
    <p:sldId id="298" r:id="rId27"/>
    <p:sldId id="28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118" autoAdjust="0"/>
    <p:restoredTop sz="94660"/>
  </p:normalViewPr>
  <p:slideViewPr>
    <p:cSldViewPr snapToGrid="0">
      <p:cViewPr varScale="1">
        <p:scale>
          <a:sx n="86" d="100"/>
          <a:sy n="86" d="100"/>
        </p:scale>
        <p:origin x="9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DA40C9A-DA25-453C-AC1C-FC5D50D31C03}" type="datetimeFigureOut">
              <a:rPr lang="en-IN" smtClean="0"/>
              <a:t>03-05-2024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367664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DA40C9A-DA25-453C-AC1C-FC5D50D31C03}" type="datetimeFigureOut">
              <a:rPr lang="en-IN" smtClean="0"/>
              <a:t>03-05-2024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3184167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DA40C9A-DA25-453C-AC1C-FC5D50D31C03}" type="datetimeFigureOut">
              <a:rPr lang="en-IN" smtClean="0"/>
              <a:t>03-05-2024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717657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DA40C9A-DA25-453C-AC1C-FC5D50D31C03}" type="datetimeFigureOut">
              <a:rPr lang="en-IN" smtClean="0"/>
              <a:t>03-05-2024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2839430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DA40C9A-DA25-453C-AC1C-FC5D50D31C03}" type="datetimeFigureOut">
              <a:rPr lang="en-IN" smtClean="0"/>
              <a:t>03-05-2024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4137132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DA40C9A-DA25-453C-AC1C-FC5D50D31C03}" type="datetimeFigureOut">
              <a:rPr lang="en-IN" smtClean="0"/>
              <a:t>03-05-2024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62052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A40C9A-DA25-453C-AC1C-FC5D50D31C03}" type="datetimeFigureOut">
              <a:rPr lang="en-IN" smtClean="0"/>
              <a:t>03-05-2024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2607470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DA40C9A-DA25-453C-AC1C-FC5D50D31C03}" type="datetimeFigureOut">
              <a:rPr lang="en-IN" smtClean="0"/>
              <a:t>03-05-2024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4158419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DA40C9A-DA25-453C-AC1C-FC5D50D31C03}" type="datetimeFigureOut">
              <a:rPr lang="en-IN" smtClean="0"/>
              <a:t>03-05-2024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3912954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DA40C9A-DA25-453C-AC1C-FC5D50D31C03}" type="datetimeFigureOut">
              <a:rPr lang="en-IN" smtClean="0"/>
              <a:t>03-05-2024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1785830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DA40C9A-DA25-453C-AC1C-FC5D50D31C03}" type="datetimeFigureOut">
              <a:rPr lang="en-IN" smtClean="0"/>
              <a:t>03-05-2024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17331EA-CF05-465C-AA93-B52335F32A5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82585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DDA40C9A-DA25-453C-AC1C-FC5D50D31C03}" type="datetimeFigureOut">
              <a:rPr lang="en-IN" smtClean="0"/>
              <a:t>03-05-2024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969584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DDA40C9A-DA25-453C-AC1C-FC5D50D31C03}" type="datetimeFigureOut">
              <a:rPr lang="en-IN" smtClean="0"/>
              <a:t>03-05-2024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17331EA-CF05-465C-AA93-B52335F32A5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76897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DDA40C9A-DA25-453C-AC1C-FC5D50D31C03}" type="datetimeFigureOut">
              <a:rPr lang="en-IN" smtClean="0"/>
              <a:t>03-05-2024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660562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DA40C9A-DA25-453C-AC1C-FC5D50D31C03}" type="datetimeFigureOut">
              <a:rPr lang="en-IN" smtClean="0"/>
              <a:t>03-05-2024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2431738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DA40C9A-DA25-453C-AC1C-FC5D50D31C03}" type="datetimeFigureOut">
              <a:rPr lang="en-IN" smtClean="0"/>
              <a:t>03-05-2024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17331EA-CF05-465C-AA93-B52335F32A50}" type="slidenum">
              <a:rPr lang="en-IN" smtClean="0"/>
              <a:t>‹#›</a:t>
            </a:fld>
            <a:endParaRPr lang="en-IN"/>
          </a:p>
        </p:txBody>
      </p:sp>
    </p:spTree>
    <p:extLst>
      <p:ext uri="{BB962C8B-B14F-4D97-AF65-F5344CB8AC3E}">
        <p14:creationId xmlns:p14="http://schemas.microsoft.com/office/powerpoint/2010/main" val="179352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DA40C9A-DA25-453C-AC1C-FC5D50D31C03}" type="datetimeFigureOut">
              <a:rPr lang="en-IN" smtClean="0"/>
              <a:t>03-05-2024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17331EA-CF05-465C-AA93-B52335F32A50}" type="slidenum">
              <a:rPr lang="en-IN" smtClean="0"/>
              <a:t>‹#›</a:t>
            </a:fld>
            <a:endParaRPr lang="en-IN"/>
          </a:p>
        </p:txBody>
      </p:sp>
    </p:spTree>
    <p:extLst>
      <p:ext uri="{BB962C8B-B14F-4D97-AF65-F5344CB8AC3E}">
        <p14:creationId xmlns:p14="http://schemas.microsoft.com/office/powerpoint/2010/main" val="658639215"/>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 id="2147483967" r:id="rId13"/>
    <p:sldLayoutId id="2147483968" r:id="rId14"/>
    <p:sldLayoutId id="2147483969" r:id="rId15"/>
    <p:sldLayoutId id="214748397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4DB58-254A-59C4-0128-0400C89732A6}"/>
              </a:ext>
            </a:extLst>
          </p:cNvPr>
          <p:cNvSpPr>
            <a:spLocks noGrp="1"/>
          </p:cNvSpPr>
          <p:nvPr>
            <p:ph type="ctrTitle"/>
          </p:nvPr>
        </p:nvSpPr>
        <p:spPr>
          <a:xfrm>
            <a:off x="1271588" y="409575"/>
            <a:ext cx="9648824" cy="1389852"/>
          </a:xfrm>
        </p:spPr>
        <p:txBody>
          <a:bodyPr>
            <a:normAutofit/>
          </a:bodyPr>
          <a:lstStyle/>
          <a:p>
            <a:pPr algn="ct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BRAIN TUMOUR DETECTION</a:t>
            </a:r>
            <a:br>
              <a:rPr lang="en-IN" sz="3200" dirty="0">
                <a:latin typeface="Times New Roman" panose="02020603050405020304" pitchFamily="18" charset="0"/>
                <a:ea typeface="Calibri" panose="020F0502020204030204" pitchFamily="34" charset="0"/>
                <a:cs typeface="Times New Roman" panose="02020603050405020304" pitchFamily="18" charset="0"/>
              </a:rPr>
            </a:b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USING CNN ALGORITHM</a:t>
            </a:r>
          </a:p>
        </p:txBody>
      </p:sp>
      <p:sp>
        <p:nvSpPr>
          <p:cNvPr id="3" name="Subtitle 2">
            <a:extLst>
              <a:ext uri="{FF2B5EF4-FFF2-40B4-BE49-F238E27FC236}">
                <a16:creationId xmlns:a16="http://schemas.microsoft.com/office/drawing/2014/main" id="{A795130E-FF81-7D4C-F2C6-D7DD2F03ED61}"/>
              </a:ext>
            </a:extLst>
          </p:cNvPr>
          <p:cNvSpPr>
            <a:spLocks noGrp="1"/>
          </p:cNvSpPr>
          <p:nvPr>
            <p:ph type="subTitle" idx="1"/>
          </p:nvPr>
        </p:nvSpPr>
        <p:spPr>
          <a:xfrm>
            <a:off x="1078518" y="5058573"/>
            <a:ext cx="2753894" cy="770727"/>
          </a:xfrm>
        </p:spPr>
        <p:txBody>
          <a:bodyPr>
            <a:normAutofit lnSpcReduction="10000"/>
          </a:bodyPr>
          <a:lstStyle/>
          <a:p>
            <a:pPr algn="l"/>
            <a:r>
              <a:rPr lang="en-IN" sz="2000" b="1" dirty="0">
                <a:latin typeface="Times New Roman" panose="02020603050405020304" pitchFamily="18" charset="0"/>
                <a:cs typeface="Times New Roman" panose="02020603050405020304" pitchFamily="18" charset="0"/>
              </a:rPr>
              <a:t>Internal Guide</a:t>
            </a:r>
            <a:r>
              <a:rPr lang="en-IN" b="1" dirty="0">
                <a:latin typeface="Times New Roman" panose="02020603050405020304" pitchFamily="18" charset="0"/>
                <a:cs typeface="Times New Roman" panose="02020603050405020304" pitchFamily="18" charset="0"/>
              </a:rPr>
              <a:t>:</a:t>
            </a:r>
          </a:p>
          <a:p>
            <a:pPr algn="l"/>
            <a:r>
              <a:rPr lang="en-IN" sz="2000" dirty="0">
                <a:latin typeface="Times New Roman" panose="02020603050405020304" pitchFamily="18" charset="0"/>
                <a:cs typeface="Times New Roman" panose="02020603050405020304" pitchFamily="18" charset="0"/>
              </a:rPr>
              <a:t>Mr. </a:t>
            </a:r>
            <a:r>
              <a:rPr lang="en-IN" sz="2000" dirty="0" err="1">
                <a:latin typeface="Times New Roman" panose="02020603050405020304" pitchFamily="18" charset="0"/>
                <a:cs typeface="Times New Roman" panose="02020603050405020304" pitchFamily="18" charset="0"/>
              </a:rPr>
              <a:t>A.Samyul</a:t>
            </a:r>
            <a:r>
              <a:rPr lang="en-IN" sz="2000">
                <a:latin typeface="Times New Roman" panose="02020603050405020304" pitchFamily="18" charset="0"/>
                <a:cs typeface="Times New Roman" panose="02020603050405020304" pitchFamily="18" charset="0"/>
              </a:rPr>
              <a:t>, M</a:t>
            </a:r>
            <a:r>
              <a:rPr lang="en-IN" sz="2000" dirty="0" err="1">
                <a:latin typeface="Times New Roman" panose="02020603050405020304" pitchFamily="18" charset="0"/>
                <a:cs typeface="Times New Roman" panose="02020603050405020304" pitchFamily="18" charset="0"/>
              </a:rPr>
              <a:t>.Tech</a:t>
            </a:r>
            <a:r>
              <a:rPr lang="en-IN" sz="2000"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4B2B3FE5-28AD-6440-80DC-F5F3134EF921}"/>
              </a:ext>
            </a:extLst>
          </p:cNvPr>
          <p:cNvSpPr txBox="1"/>
          <p:nvPr/>
        </p:nvSpPr>
        <p:spPr>
          <a:xfrm>
            <a:off x="7871292" y="4837504"/>
            <a:ext cx="6098240" cy="1138773"/>
          </a:xfrm>
          <a:prstGeom prst="rect">
            <a:avLst/>
          </a:prstGeom>
          <a:noFill/>
        </p:spPr>
        <p:txBody>
          <a:bodyPr wrap="square">
            <a:spAutoFit/>
          </a:bodyPr>
          <a:lstStyle/>
          <a:p>
            <a:r>
              <a:rPr lang="en-IN" sz="1800" b="1" dirty="0">
                <a:solidFill>
                  <a:schemeClr val="tx1"/>
                </a:solidFill>
                <a:latin typeface="Times New Roman" panose="02020603050405020304" pitchFamily="18" charset="0"/>
                <a:cs typeface="Times New Roman" panose="02020603050405020304" pitchFamily="18" charset="0"/>
              </a:rPr>
              <a:t>Presented by:</a:t>
            </a:r>
          </a:p>
          <a:p>
            <a:r>
              <a:rPr lang="en-IN" sz="1800" dirty="0">
                <a:solidFill>
                  <a:schemeClr val="tx1"/>
                </a:solidFill>
                <a:latin typeface="Times New Roman" panose="02020603050405020304" pitchFamily="18" charset="0"/>
                <a:cs typeface="Times New Roman" panose="02020603050405020304" pitchFamily="18" charset="0"/>
              </a:rPr>
              <a:t>Name</a:t>
            </a:r>
            <a:r>
              <a:rPr lang="en-IN" sz="1800" b="1" dirty="0">
                <a:solidFill>
                  <a:schemeClr val="tx1"/>
                </a:solidFill>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KAKI VARAPRASAD</a:t>
            </a:r>
            <a:endParaRPr lang="en-IN" sz="1600" dirty="0">
              <a:solidFill>
                <a:schemeClr val="tx1"/>
              </a:solidFill>
              <a:latin typeface="Times New Roman" panose="02020603050405020304" pitchFamily="18" charset="0"/>
              <a:cs typeface="Times New Roman" panose="02020603050405020304" pitchFamily="18" charset="0"/>
            </a:endParaRPr>
          </a:p>
          <a:p>
            <a:r>
              <a:rPr lang="en-IN" sz="1800" dirty="0">
                <a:solidFill>
                  <a:schemeClr val="tx1"/>
                </a:solidFill>
                <a:latin typeface="Times New Roman" panose="02020603050405020304" pitchFamily="18" charset="0"/>
                <a:cs typeface="Times New Roman" panose="02020603050405020304" pitchFamily="18" charset="0"/>
              </a:rPr>
              <a:t>Reg No : 22</a:t>
            </a:r>
            <a:r>
              <a:rPr lang="en-IN" dirty="0">
                <a:latin typeface="Times New Roman" panose="02020603050405020304" pitchFamily="18" charset="0"/>
                <a:cs typeface="Times New Roman" panose="02020603050405020304" pitchFamily="18" charset="0"/>
              </a:rPr>
              <a:t>A91F0019</a:t>
            </a:r>
            <a:endParaRPr lang="en-IN" sz="1800" dirty="0">
              <a:solidFill>
                <a:schemeClr val="tx1"/>
              </a:solidFill>
              <a:latin typeface="Times New Roman" panose="02020603050405020304" pitchFamily="18" charset="0"/>
              <a:cs typeface="Times New Roman" panose="02020603050405020304" pitchFamily="18" charset="0"/>
            </a:endParaRPr>
          </a:p>
          <a:p>
            <a:r>
              <a:rPr lang="en-IN" sz="1200" dirty="0">
                <a:solidFill>
                  <a:schemeClr val="tx1"/>
                </a:solidFill>
                <a:latin typeface="Times New Roman" panose="02020603050405020304" pitchFamily="18" charset="0"/>
                <a:cs typeface="Times New Roman" panose="02020603050405020304" pitchFamily="18" charset="0"/>
              </a:rPr>
              <a:t>ADITYA </a:t>
            </a:r>
            <a:r>
              <a:rPr lang="en-IN" sz="1400" dirty="0">
                <a:solidFill>
                  <a:schemeClr val="tx1"/>
                </a:solidFill>
                <a:latin typeface="Times New Roman" panose="02020603050405020304" pitchFamily="18" charset="0"/>
                <a:cs typeface="Times New Roman" panose="02020603050405020304" pitchFamily="18" charset="0"/>
              </a:rPr>
              <a:t>EN</a:t>
            </a:r>
            <a:r>
              <a:rPr lang="en-IN" sz="1400" dirty="0">
                <a:latin typeface="Times New Roman" panose="02020603050405020304" pitchFamily="18" charset="0"/>
                <a:cs typeface="Times New Roman" panose="02020603050405020304" pitchFamily="18" charset="0"/>
              </a:rPr>
              <a:t>GINEERNING COLLEGE</a:t>
            </a:r>
            <a:endParaRPr lang="en-IN" sz="1200" dirty="0">
              <a:solidFill>
                <a:schemeClr val="tx1"/>
              </a:solidFill>
              <a:latin typeface="Times New Roman" panose="02020603050405020304" pitchFamily="18" charset="0"/>
              <a:cs typeface="Times New Roman" panose="02020603050405020304" pitchFamily="18" charset="0"/>
            </a:endParaRPr>
          </a:p>
        </p:txBody>
      </p:sp>
      <p:pic>
        <p:nvPicPr>
          <p:cNvPr id="4" name="image2.jpeg">
            <a:extLst>
              <a:ext uri="{FF2B5EF4-FFF2-40B4-BE49-F238E27FC236}">
                <a16:creationId xmlns:a16="http://schemas.microsoft.com/office/drawing/2014/main" id="{87F6FF6B-2341-821B-2092-B8A1187762C6}"/>
              </a:ext>
            </a:extLst>
          </p:cNvPr>
          <p:cNvPicPr>
            <a:picLocks noChangeAspect="1"/>
          </p:cNvPicPr>
          <p:nvPr/>
        </p:nvPicPr>
        <p:blipFill>
          <a:blip r:embed="rId2" cstate="print"/>
          <a:stretch>
            <a:fillRect/>
          </a:stretch>
        </p:blipFill>
        <p:spPr>
          <a:xfrm>
            <a:off x="4676775" y="2266951"/>
            <a:ext cx="2924175" cy="1693228"/>
          </a:xfrm>
          <a:prstGeom prst="rect">
            <a:avLst/>
          </a:prstGeom>
        </p:spPr>
      </p:pic>
    </p:spTree>
    <p:extLst>
      <p:ext uri="{BB962C8B-B14F-4D97-AF65-F5344CB8AC3E}">
        <p14:creationId xmlns:p14="http://schemas.microsoft.com/office/powerpoint/2010/main" val="245512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9F37C-1662-75FE-FFF4-BD2058CDCE87}"/>
              </a:ext>
            </a:extLst>
          </p:cNvPr>
          <p:cNvSpPr>
            <a:spLocks noGrp="1"/>
          </p:cNvSpPr>
          <p:nvPr>
            <p:ph type="title"/>
          </p:nvPr>
        </p:nvSpPr>
        <p:spPr>
          <a:xfrm>
            <a:off x="838200" y="693334"/>
            <a:ext cx="10515600" cy="854075"/>
          </a:xfrm>
        </p:spPr>
        <p:txBody>
          <a:bodyPr>
            <a:normAutofit/>
          </a:bodyPr>
          <a:lstStyle/>
          <a:p>
            <a:pPr algn="ctr"/>
            <a:r>
              <a:rPr lang="en-IN" sz="2800" dirty="0">
                <a:latin typeface="Times New Roman" panose="02020603050405020304" pitchFamily="18" charset="0"/>
                <a:cs typeface="Times New Roman" panose="02020603050405020304" pitchFamily="18" charset="0"/>
              </a:rPr>
              <a:t>INDEX</a:t>
            </a:r>
          </a:p>
        </p:txBody>
      </p:sp>
      <p:sp>
        <p:nvSpPr>
          <p:cNvPr id="3" name="Content Placeholder 2">
            <a:extLst>
              <a:ext uri="{FF2B5EF4-FFF2-40B4-BE49-F238E27FC236}">
                <a16:creationId xmlns:a16="http://schemas.microsoft.com/office/drawing/2014/main" id="{DC1A43F2-140F-E76A-4984-9FAA708FDBC7}"/>
              </a:ext>
            </a:extLst>
          </p:cNvPr>
          <p:cNvSpPr>
            <a:spLocks noGrp="1"/>
          </p:cNvSpPr>
          <p:nvPr>
            <p:ph idx="1"/>
          </p:nvPr>
        </p:nvSpPr>
        <p:spPr>
          <a:xfrm>
            <a:off x="1654353" y="1120371"/>
            <a:ext cx="6495677" cy="5186837"/>
          </a:xfrm>
        </p:spPr>
        <p:txBody>
          <a:bodyPr>
            <a:normAutofit fontScale="55000" lnSpcReduction="20000"/>
          </a:bodyPr>
          <a:lstStyle/>
          <a:p>
            <a:pPr>
              <a:lnSpc>
                <a:spcPct val="160000"/>
              </a:lnSpc>
            </a:pPr>
            <a:r>
              <a:rPr lang="en-IN" sz="1800" dirty="0">
                <a:latin typeface="Times New Roman" panose="02020603050405020304" pitchFamily="18" charset="0"/>
                <a:cs typeface="Times New Roman" panose="02020603050405020304" pitchFamily="18" charset="0"/>
              </a:rPr>
              <a:t>ABSTRACT</a:t>
            </a:r>
          </a:p>
          <a:p>
            <a:pPr>
              <a:lnSpc>
                <a:spcPct val="160000"/>
              </a:lnSpc>
            </a:pPr>
            <a:r>
              <a:rPr lang="en-IN" sz="1800" dirty="0">
                <a:latin typeface="Times New Roman" panose="02020603050405020304" pitchFamily="18" charset="0"/>
                <a:cs typeface="Times New Roman" panose="02020603050405020304" pitchFamily="18" charset="0"/>
              </a:rPr>
              <a:t>EXISTING SYSTEM </a:t>
            </a:r>
          </a:p>
          <a:p>
            <a:pPr>
              <a:lnSpc>
                <a:spcPct val="160000"/>
              </a:lnSpc>
            </a:pPr>
            <a:r>
              <a:rPr lang="en-IN" sz="1800" dirty="0">
                <a:latin typeface="Times New Roman" panose="02020603050405020304" pitchFamily="18" charset="0"/>
                <a:cs typeface="Times New Roman" panose="02020603050405020304" pitchFamily="18" charset="0"/>
              </a:rPr>
              <a:t>DISADVANTAGES</a:t>
            </a:r>
          </a:p>
          <a:p>
            <a:pPr>
              <a:lnSpc>
                <a:spcPct val="160000"/>
              </a:lnSpc>
            </a:pPr>
            <a:r>
              <a:rPr lang="en-IN" sz="1800" dirty="0">
                <a:latin typeface="Times New Roman" panose="02020603050405020304" pitchFamily="18" charset="0"/>
                <a:cs typeface="Times New Roman" panose="02020603050405020304" pitchFamily="18" charset="0"/>
              </a:rPr>
              <a:t>PROPOSED SYSTEM</a:t>
            </a:r>
          </a:p>
          <a:p>
            <a:pPr>
              <a:lnSpc>
                <a:spcPct val="160000"/>
              </a:lnSpc>
            </a:pPr>
            <a:r>
              <a:rPr lang="en-IN" sz="1800" dirty="0">
                <a:latin typeface="Times New Roman" panose="02020603050405020304" pitchFamily="18" charset="0"/>
                <a:cs typeface="Times New Roman" panose="02020603050405020304" pitchFamily="18" charset="0"/>
              </a:rPr>
              <a:t>ADVANTAGES</a:t>
            </a:r>
          </a:p>
          <a:p>
            <a:pPr>
              <a:lnSpc>
                <a:spcPct val="160000"/>
              </a:lnSpc>
            </a:pPr>
            <a:r>
              <a:rPr lang="en-IN" sz="1800" dirty="0">
                <a:latin typeface="Times New Roman" panose="02020603050405020304" pitchFamily="18" charset="0"/>
                <a:cs typeface="Times New Roman" panose="02020603050405020304" pitchFamily="18" charset="0"/>
              </a:rPr>
              <a:t>SYSTEM ARCHITECTURE</a:t>
            </a:r>
          </a:p>
          <a:p>
            <a:pPr>
              <a:lnSpc>
                <a:spcPct val="160000"/>
              </a:lnSpc>
            </a:pPr>
            <a:r>
              <a:rPr lang="en-IN" sz="1800" dirty="0">
                <a:latin typeface="Times New Roman" panose="02020603050405020304" pitchFamily="18" charset="0"/>
                <a:cs typeface="Times New Roman" panose="02020603050405020304" pitchFamily="18" charset="0"/>
              </a:rPr>
              <a:t>ALGORITHM</a:t>
            </a:r>
          </a:p>
          <a:p>
            <a:pPr>
              <a:lnSpc>
                <a:spcPct val="160000"/>
              </a:lnSpc>
            </a:pPr>
            <a:r>
              <a:rPr lang="en-IN" sz="1800" dirty="0">
                <a:latin typeface="Times New Roman" panose="02020603050405020304" pitchFamily="18" charset="0"/>
                <a:cs typeface="Times New Roman" panose="02020603050405020304" pitchFamily="18" charset="0"/>
              </a:rPr>
              <a:t>ALGORITHM DESCRIPTION</a:t>
            </a:r>
          </a:p>
          <a:p>
            <a:pPr>
              <a:lnSpc>
                <a:spcPct val="160000"/>
              </a:lnSpc>
            </a:pPr>
            <a:r>
              <a:rPr lang="en-IN" sz="1800" dirty="0">
                <a:latin typeface="Times New Roman" panose="02020603050405020304" pitchFamily="18" charset="0"/>
                <a:cs typeface="Times New Roman" panose="02020603050405020304" pitchFamily="18" charset="0"/>
              </a:rPr>
              <a:t>FUNCTIONAL REQUIREMENTS</a:t>
            </a:r>
          </a:p>
          <a:p>
            <a:pPr>
              <a:lnSpc>
                <a:spcPct val="160000"/>
              </a:lnSpc>
            </a:pPr>
            <a:r>
              <a:rPr lang="en-IN" sz="1800" dirty="0">
                <a:latin typeface="Times New Roman" panose="02020603050405020304" pitchFamily="18" charset="0"/>
                <a:cs typeface="Times New Roman" panose="02020603050405020304" pitchFamily="18" charset="0"/>
              </a:rPr>
              <a:t>NON-FUNCTIONAL REQUIREMENTS</a:t>
            </a:r>
          </a:p>
          <a:p>
            <a:pPr>
              <a:lnSpc>
                <a:spcPct val="160000"/>
              </a:lnSpc>
            </a:pPr>
            <a:r>
              <a:rPr lang="en-IN" sz="1800" dirty="0">
                <a:latin typeface="Times New Roman" panose="02020603050405020304" pitchFamily="18" charset="0"/>
                <a:cs typeface="Times New Roman" panose="02020603050405020304" pitchFamily="18" charset="0"/>
              </a:rPr>
              <a:t>SYSTEM REQUIREMENT SPECIFICATIONS</a:t>
            </a:r>
          </a:p>
          <a:p>
            <a:pPr>
              <a:lnSpc>
                <a:spcPct val="160000"/>
              </a:lnSpc>
            </a:pPr>
            <a:r>
              <a:rPr lang="en-IN" sz="1800" dirty="0">
                <a:latin typeface="Times New Roman" panose="02020603050405020304" pitchFamily="18" charset="0"/>
                <a:cs typeface="Times New Roman" panose="02020603050405020304" pitchFamily="18" charset="0"/>
              </a:rPr>
              <a:t>UML DIAGRAMS</a:t>
            </a:r>
          </a:p>
          <a:p>
            <a:pPr>
              <a:lnSpc>
                <a:spcPct val="160000"/>
              </a:lnSpc>
            </a:pPr>
            <a:r>
              <a:rPr lang="en-IN" dirty="0">
                <a:latin typeface="Times New Roman" panose="02020603050405020304" pitchFamily="18" charset="0"/>
                <a:cs typeface="Times New Roman" panose="02020603050405020304" pitchFamily="18" charset="0"/>
              </a:rPr>
              <a:t>TEST CASE SPECIFICATION TABLE</a:t>
            </a:r>
          </a:p>
          <a:p>
            <a:pPr>
              <a:lnSpc>
                <a:spcPct val="160000"/>
              </a:lnSpc>
            </a:pPr>
            <a:r>
              <a:rPr lang="en-IN" dirty="0">
                <a:latin typeface="Times New Roman" panose="02020603050405020304" pitchFamily="18" charset="0"/>
                <a:cs typeface="Times New Roman" panose="02020603050405020304" pitchFamily="18" charset="0"/>
              </a:rPr>
              <a:t>SCREENSHOTS</a:t>
            </a:r>
          </a:p>
          <a:p>
            <a:pPr>
              <a:lnSpc>
                <a:spcPct val="160000"/>
              </a:lnSpc>
            </a:pPr>
            <a:r>
              <a:rPr lang="en-IN" sz="1800" dirty="0">
                <a:latin typeface="Times New Roman" panose="02020603050405020304" pitchFamily="18" charset="0"/>
                <a:cs typeface="Times New Roman" panose="02020603050405020304" pitchFamily="18" charset="0"/>
              </a:rPr>
              <a:t>CONCLUSION</a:t>
            </a:r>
          </a:p>
          <a:p>
            <a:pPr>
              <a:lnSpc>
                <a:spcPct val="16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4332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0D3C1-83B3-667D-1178-F8A4C2A1F878}"/>
              </a:ext>
            </a:extLst>
          </p:cNvPr>
          <p:cNvSpPr>
            <a:spLocks noGrp="1"/>
          </p:cNvSpPr>
          <p:nvPr>
            <p:ph type="title"/>
          </p:nvPr>
        </p:nvSpPr>
        <p:spPr>
          <a:xfrm>
            <a:off x="1640156" y="786750"/>
            <a:ext cx="8911687" cy="619712"/>
          </a:xfrm>
        </p:spPr>
        <p:txBody>
          <a:bodyPr>
            <a:normAutofit/>
          </a:bodyPr>
          <a:lstStyle/>
          <a:p>
            <a:pPr algn="ctr"/>
            <a:r>
              <a:rPr lang="en-IN" sz="28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7FB2D4D4-3A13-34E3-0118-A53D4C6EE6FE}"/>
              </a:ext>
            </a:extLst>
          </p:cNvPr>
          <p:cNvSpPr>
            <a:spLocks noGrp="1"/>
          </p:cNvSpPr>
          <p:nvPr>
            <p:ph idx="1"/>
          </p:nvPr>
        </p:nvSpPr>
        <p:spPr>
          <a:xfrm>
            <a:off x="1511559" y="1748118"/>
            <a:ext cx="9936368" cy="3953435"/>
          </a:xfrm>
        </p:spPr>
        <p:txBody>
          <a:bodyPr>
            <a:noAutofit/>
          </a:bodyPr>
          <a:lstStyle/>
          <a:p>
            <a:pPr marL="0" indent="457200" algn="just">
              <a:lnSpc>
                <a:spcPct val="150000"/>
              </a:lnSpc>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Brain tumours pose a significant health threat and early detection is crucial for effective treatment. In this project, I propose an automated system for brain tumour detection leveraging machine learning and image processing techniques. The system begins by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preprocessing</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magnetic resonance imaging (MRI) scans to enhance image quality and remove noise. Subsequently, features are extracted from the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preprocessed</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images using advanced image processing algorithms</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523319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5DDA2-DE3D-6969-E0E1-06C28EE53686}"/>
              </a:ext>
            </a:extLst>
          </p:cNvPr>
          <p:cNvSpPr>
            <a:spLocks noGrp="1"/>
          </p:cNvSpPr>
          <p:nvPr>
            <p:ph type="title"/>
          </p:nvPr>
        </p:nvSpPr>
        <p:spPr>
          <a:xfrm>
            <a:off x="974602" y="783674"/>
            <a:ext cx="10515600" cy="1325563"/>
          </a:xfrm>
        </p:spPr>
        <p:txBody>
          <a:bodyPr>
            <a:normAutofit/>
          </a:bodyPr>
          <a:lstStyle/>
          <a:p>
            <a:pPr algn="ctr"/>
            <a:r>
              <a:rPr lang="en-IN" sz="2800"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6A5ED57C-EDD1-4E80-8D58-BC5FF0F86AC6}"/>
              </a:ext>
            </a:extLst>
          </p:cNvPr>
          <p:cNvSpPr>
            <a:spLocks noGrp="1"/>
          </p:cNvSpPr>
          <p:nvPr>
            <p:ph idx="1"/>
          </p:nvPr>
        </p:nvSpPr>
        <p:spPr>
          <a:xfrm>
            <a:off x="1464906" y="1722988"/>
            <a:ext cx="9870233" cy="4351338"/>
          </a:xfrm>
        </p:spPr>
        <p:txBody>
          <a:bodyPr>
            <a:noAutofit/>
          </a:bodyPr>
          <a:lstStyle/>
          <a:p>
            <a:pPr marL="66675" marR="71755" indent="457200" algn="just">
              <a:lnSpc>
                <a:spcPct val="150000"/>
              </a:lnSpc>
              <a:spcBef>
                <a:spcPts val="1530"/>
              </a:spcBef>
              <a:spcAft>
                <a:spcPts val="0"/>
              </a:spcAft>
              <a:buNone/>
            </a:pPr>
            <a:r>
              <a:rPr lang="en-IN" sz="2000" b="0" i="0" dirty="0">
                <a:solidFill>
                  <a:srgbClr val="0D0D0D"/>
                </a:solidFill>
                <a:effectLst/>
                <a:latin typeface="Times New Roman" panose="02020603050405020304" pitchFamily="18" charset="0"/>
                <a:cs typeface="Times New Roman" panose="02020603050405020304" pitchFamily="18" charset="0"/>
              </a:rPr>
              <a:t>The existing system for brain tumour detection relies heavily on manual interpretation of MRI scans by radiologists. This process is time-consuming and prone to human error. Additionally, it may result in delays in diagnosis and treatment initiation. Furthermore, the current system lacks scalability and consistency across different healthcare facilities. Overall, there is </a:t>
            </a:r>
            <a:r>
              <a:rPr lang="en-IN" sz="2000" dirty="0">
                <a:solidFill>
                  <a:srgbClr val="0D0D0D"/>
                </a:solidFill>
                <a:latin typeface="Times New Roman" panose="02020603050405020304" pitchFamily="18" charset="0"/>
                <a:cs typeface="Times New Roman" panose="02020603050405020304" pitchFamily="18" charset="0"/>
              </a:rPr>
              <a:t>a </a:t>
            </a:r>
            <a:r>
              <a:rPr lang="en-IN" sz="2000" b="0" i="0" dirty="0">
                <a:solidFill>
                  <a:srgbClr val="0D0D0D"/>
                </a:solidFill>
                <a:effectLst/>
                <a:latin typeface="Times New Roman" panose="02020603050405020304" pitchFamily="18" charset="0"/>
                <a:cs typeface="Times New Roman" panose="02020603050405020304" pitchFamily="18" charset="0"/>
              </a:rPr>
              <a:t>need for automated systems to enhance the efficiency and accuracy of brain tumour detection.</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6789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5659B-529B-0F65-3FF8-DF0B02D61B1B}"/>
              </a:ext>
            </a:extLst>
          </p:cNvPr>
          <p:cNvSpPr>
            <a:spLocks noGrp="1"/>
          </p:cNvSpPr>
          <p:nvPr>
            <p:ph type="title"/>
          </p:nvPr>
        </p:nvSpPr>
        <p:spPr>
          <a:xfrm>
            <a:off x="1640155" y="760573"/>
            <a:ext cx="8911687" cy="666807"/>
          </a:xfrm>
        </p:spPr>
        <p:txBody>
          <a:bodyPr>
            <a:normAutofit/>
          </a:bodyPr>
          <a:lstStyle/>
          <a:p>
            <a:pPr algn="ctr"/>
            <a:r>
              <a:rPr lang="en-IN" sz="2800" dirty="0">
                <a:latin typeface="Times New Roman" panose="02020603050405020304" pitchFamily="18" charset="0"/>
                <a:cs typeface="Times New Roman" panose="02020603050405020304" pitchFamily="18" charset="0"/>
              </a:rPr>
              <a:t>DISADVANTAGES</a:t>
            </a:r>
          </a:p>
        </p:txBody>
      </p:sp>
      <p:sp>
        <p:nvSpPr>
          <p:cNvPr id="3" name="Content Placeholder 2">
            <a:extLst>
              <a:ext uri="{FF2B5EF4-FFF2-40B4-BE49-F238E27FC236}">
                <a16:creationId xmlns:a16="http://schemas.microsoft.com/office/drawing/2014/main" id="{F1679842-35F0-EFEE-904E-B605A36F7104}"/>
              </a:ext>
            </a:extLst>
          </p:cNvPr>
          <p:cNvSpPr>
            <a:spLocks noGrp="1"/>
          </p:cNvSpPr>
          <p:nvPr>
            <p:ph idx="1"/>
          </p:nvPr>
        </p:nvSpPr>
        <p:spPr>
          <a:xfrm>
            <a:off x="1640155" y="1537447"/>
            <a:ext cx="9823711" cy="3661086"/>
          </a:xfrm>
        </p:spPr>
        <p:txBody>
          <a:bodyPr>
            <a:normAutofit/>
          </a:bodyPr>
          <a:lstStyle/>
          <a:p>
            <a:pPr algn="just">
              <a:lnSpc>
                <a:spcPct val="150000"/>
              </a:lnSpc>
            </a:pPr>
            <a:r>
              <a:rPr lang="en-IN" sz="2000" dirty="0">
                <a:effectLst/>
                <a:latin typeface="Times New Roman" panose="02020603050405020304" pitchFamily="18" charset="0"/>
                <a:cs typeface="Times New Roman" panose="02020603050405020304" pitchFamily="18" charset="0"/>
              </a:rPr>
              <a:t>Manual interpretation of MRI scans for brain tumour detection is subjective and can vary between different radiologists, leading to inconsistencies in diagnoses.</a:t>
            </a:r>
          </a:p>
          <a:p>
            <a:pPr algn="just">
              <a:lnSpc>
                <a:spcPct val="150000"/>
              </a:lnSpc>
            </a:pPr>
            <a:r>
              <a:rPr lang="en-IN" sz="2000" dirty="0">
                <a:effectLst/>
                <a:latin typeface="Times New Roman" panose="02020603050405020304" pitchFamily="18" charset="0"/>
                <a:cs typeface="Times New Roman" panose="02020603050405020304" pitchFamily="18" charset="0"/>
              </a:rPr>
              <a:t>The current system relies on radiologists to </a:t>
            </a:r>
            <a:r>
              <a:rPr lang="en-IN" sz="2000" dirty="0" err="1">
                <a:effectLst/>
                <a:latin typeface="Times New Roman" panose="02020603050405020304" pitchFamily="18" charset="0"/>
                <a:cs typeface="Times New Roman" panose="02020603050405020304" pitchFamily="18" charset="0"/>
              </a:rPr>
              <a:t>analyze</a:t>
            </a:r>
            <a:r>
              <a:rPr lang="en-IN" sz="2000" dirty="0">
                <a:effectLst/>
                <a:latin typeface="Times New Roman" panose="02020603050405020304" pitchFamily="18" charset="0"/>
                <a:cs typeface="Times New Roman" panose="02020603050405020304" pitchFamily="18" charset="0"/>
              </a:rPr>
              <a:t> each MRI scan individually, which is a time-consuming process.</a:t>
            </a:r>
          </a:p>
          <a:p>
            <a:pPr algn="just">
              <a:lnSpc>
                <a:spcPct val="150000"/>
              </a:lnSpc>
            </a:pPr>
            <a:r>
              <a:rPr lang="en-IN" sz="2000" dirty="0">
                <a:effectLst/>
                <a:latin typeface="Times New Roman" panose="02020603050405020304" pitchFamily="18" charset="0"/>
                <a:cs typeface="Times New Roman" panose="02020603050405020304" pitchFamily="18" charset="0"/>
              </a:rPr>
              <a:t>Manual interpretation is prone to human error, including misinterpretation of imaging features, it delays treatment.</a:t>
            </a:r>
          </a:p>
        </p:txBody>
      </p:sp>
    </p:spTree>
    <p:extLst>
      <p:ext uri="{BB962C8B-B14F-4D97-AF65-F5344CB8AC3E}">
        <p14:creationId xmlns:p14="http://schemas.microsoft.com/office/powerpoint/2010/main" val="1409605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02CF9-A3ED-004F-91F9-8C75B6D39DD1}"/>
              </a:ext>
            </a:extLst>
          </p:cNvPr>
          <p:cNvSpPr>
            <a:spLocks noGrp="1"/>
          </p:cNvSpPr>
          <p:nvPr>
            <p:ph type="title"/>
          </p:nvPr>
        </p:nvSpPr>
        <p:spPr>
          <a:xfrm>
            <a:off x="1640156" y="764455"/>
            <a:ext cx="8911687" cy="617847"/>
          </a:xfrm>
        </p:spPr>
        <p:txBody>
          <a:bodyPr>
            <a:normAutofit/>
          </a:bodyPr>
          <a:lstStyle/>
          <a:p>
            <a:pPr algn="ctr"/>
            <a:r>
              <a:rPr lang="en-IN" sz="2800"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FE116CE8-1B85-39EB-5398-7E10BFCB78B5}"/>
              </a:ext>
            </a:extLst>
          </p:cNvPr>
          <p:cNvSpPr>
            <a:spLocks noGrp="1"/>
          </p:cNvSpPr>
          <p:nvPr>
            <p:ph idx="1"/>
          </p:nvPr>
        </p:nvSpPr>
        <p:spPr>
          <a:xfrm>
            <a:off x="1640156" y="1596559"/>
            <a:ext cx="9686750" cy="4655606"/>
          </a:xfrm>
        </p:spPr>
        <p:txBody>
          <a:bodyPr>
            <a:noAutofit/>
          </a:bodyPr>
          <a:lstStyle/>
          <a:p>
            <a:pPr marL="0" marR="128270" indent="457200" algn="just">
              <a:lnSpc>
                <a:spcPct val="150000"/>
              </a:lnSpc>
              <a:spcAft>
                <a:spcPts val="25"/>
              </a:spcAft>
              <a:buNone/>
            </a:pPr>
            <a:r>
              <a:rPr lang="en-IN" sz="2000" b="0" i="0" dirty="0">
                <a:solidFill>
                  <a:srgbClr val="0D0D0D"/>
                </a:solidFill>
                <a:effectLst/>
                <a:latin typeface="Times New Roman" panose="02020603050405020304" pitchFamily="18" charset="0"/>
                <a:cs typeface="Times New Roman" panose="02020603050405020304" pitchFamily="18" charset="0"/>
              </a:rPr>
              <a:t>The proposed system utilizes advanced machine learning and image processing techniques to automate the detection of brain tumours from MRI scans. It enhances accuracy and efficiency by extracting features and classifying images into tumorous and non-tumorous categories. By leveraging computational algorithms, it offers consistent and objective results, reducing the reliance on subjective human interpretation. The system aims to expedite the diagnostic process, facilitating early detection and treatment initiation for improved patient outcomes. Its scalability and adaptability make it a promising solution for enhancing brain tumour detection in healthcare settings.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0474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0E55B-B038-7E50-A0E9-4EC5F21C0088}"/>
              </a:ext>
            </a:extLst>
          </p:cNvPr>
          <p:cNvSpPr>
            <a:spLocks noGrp="1"/>
          </p:cNvSpPr>
          <p:nvPr>
            <p:ph type="title"/>
          </p:nvPr>
        </p:nvSpPr>
        <p:spPr>
          <a:xfrm>
            <a:off x="838199" y="745984"/>
            <a:ext cx="10515600" cy="1325563"/>
          </a:xfrm>
        </p:spPr>
        <p:txBody>
          <a:bodyPr>
            <a:normAutofit/>
          </a:bodyPr>
          <a:lstStyle/>
          <a:p>
            <a:pPr algn="ctr"/>
            <a:r>
              <a:rPr lang="en-IN" sz="2800"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C9D2185B-E0EE-907D-1A6F-419A373CD2C0}"/>
              </a:ext>
            </a:extLst>
          </p:cNvPr>
          <p:cNvSpPr>
            <a:spLocks noGrp="1"/>
          </p:cNvSpPr>
          <p:nvPr>
            <p:ph idx="1"/>
          </p:nvPr>
        </p:nvSpPr>
        <p:spPr>
          <a:xfrm>
            <a:off x="1481666" y="1483411"/>
            <a:ext cx="9872133" cy="4467102"/>
          </a:xfrm>
        </p:spPr>
        <p:txBody>
          <a:bodyPr>
            <a:noAutofit/>
          </a:bodyPr>
          <a:lstStyle/>
          <a:p>
            <a:pPr algn="just">
              <a:lnSpc>
                <a:spcPct val="150000"/>
              </a:lnSpc>
            </a:pPr>
            <a:r>
              <a:rPr lang="en-IN" sz="2000" b="0" i="0" dirty="0">
                <a:solidFill>
                  <a:srgbClr val="0D0D0D"/>
                </a:solidFill>
                <a:effectLst/>
                <a:latin typeface="Times New Roman" panose="02020603050405020304" pitchFamily="18" charset="0"/>
                <a:cs typeface="Times New Roman" panose="02020603050405020304" pitchFamily="18" charset="0"/>
              </a:rPr>
              <a:t>It </a:t>
            </a:r>
            <a:r>
              <a:rPr lang="en-IN" sz="2000" dirty="0">
                <a:solidFill>
                  <a:srgbClr val="0D0D0D"/>
                </a:solidFill>
                <a:latin typeface="Times New Roman" panose="02020603050405020304" pitchFamily="18" charset="0"/>
                <a:cs typeface="Times New Roman" panose="02020603050405020304" pitchFamily="18" charset="0"/>
              </a:rPr>
              <a:t>gives </a:t>
            </a:r>
            <a:r>
              <a:rPr lang="en-IN" sz="2000" b="0" i="0" dirty="0">
                <a:solidFill>
                  <a:srgbClr val="0D0D0D"/>
                </a:solidFill>
                <a:effectLst/>
                <a:latin typeface="Times New Roman" panose="02020603050405020304" pitchFamily="18" charset="0"/>
                <a:cs typeface="Times New Roman" panose="02020603050405020304" pitchFamily="18" charset="0"/>
              </a:rPr>
              <a:t>more accurate and consistent brain tumour detection compared to manual interpretation, reducing the risk of misdiagnosis.</a:t>
            </a:r>
          </a:p>
          <a:p>
            <a:pPr algn="just">
              <a:lnSpc>
                <a:spcPct val="150000"/>
              </a:lnSpc>
            </a:pPr>
            <a:r>
              <a:rPr lang="en-IN" sz="2000" dirty="0">
                <a:solidFill>
                  <a:srgbClr val="0D0D0D"/>
                </a:solidFill>
                <a:latin typeface="Times New Roman" panose="02020603050405020304" pitchFamily="18" charset="0"/>
                <a:cs typeface="Times New Roman" panose="02020603050405020304" pitchFamily="18" charset="0"/>
              </a:rPr>
              <a:t>H</a:t>
            </a:r>
            <a:r>
              <a:rPr lang="en-IN" sz="2000" b="0" i="0" dirty="0">
                <a:solidFill>
                  <a:srgbClr val="0D0D0D"/>
                </a:solidFill>
                <a:effectLst/>
                <a:latin typeface="Times New Roman" panose="02020603050405020304" pitchFamily="18" charset="0"/>
                <a:cs typeface="Times New Roman" panose="02020603050405020304" pitchFamily="18" charset="0"/>
              </a:rPr>
              <a:t>andle a larger volume of MRI scans efficiently.</a:t>
            </a:r>
          </a:p>
          <a:p>
            <a:pPr algn="just">
              <a:lnSpc>
                <a:spcPct val="150000"/>
              </a:lnSpc>
            </a:pPr>
            <a:r>
              <a:rPr lang="en-IN" sz="2000" b="0" i="0" dirty="0">
                <a:solidFill>
                  <a:srgbClr val="0D0D0D"/>
                </a:solidFill>
                <a:effectLst/>
                <a:latin typeface="Times New Roman" panose="02020603050405020304" pitchFamily="18" charset="0"/>
                <a:cs typeface="Times New Roman" panose="02020603050405020304" pitchFamily="18" charset="0"/>
              </a:rPr>
              <a:t>By minimizing the reliance on subjective human interpretation, the system generates more objective results, reducing the variability between different radiologists.</a:t>
            </a:r>
          </a:p>
        </p:txBody>
      </p:sp>
    </p:spTree>
    <p:extLst>
      <p:ext uri="{BB962C8B-B14F-4D97-AF65-F5344CB8AC3E}">
        <p14:creationId xmlns:p14="http://schemas.microsoft.com/office/powerpoint/2010/main" val="3953858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7C77-C1D6-BA8C-67D6-EB6BFD865104}"/>
              </a:ext>
            </a:extLst>
          </p:cNvPr>
          <p:cNvSpPr>
            <a:spLocks noGrp="1"/>
          </p:cNvSpPr>
          <p:nvPr>
            <p:ph type="title"/>
          </p:nvPr>
        </p:nvSpPr>
        <p:spPr>
          <a:xfrm>
            <a:off x="2204028" y="742406"/>
            <a:ext cx="8911687" cy="1280890"/>
          </a:xfrm>
        </p:spPr>
        <p:txBody>
          <a:bodyPr>
            <a:normAutofit/>
          </a:bodyPr>
          <a:lstStyle/>
          <a:p>
            <a:pPr algn="ctr"/>
            <a:r>
              <a:rPr lang="en-IN" sz="2800" dirty="0">
                <a:latin typeface="Times New Roman" panose="02020603050405020304" pitchFamily="18" charset="0"/>
                <a:cs typeface="Times New Roman" panose="02020603050405020304" pitchFamily="18" charset="0"/>
              </a:rPr>
              <a:t>SYSTEM ARCHITECTURE</a:t>
            </a:r>
          </a:p>
        </p:txBody>
      </p:sp>
      <p:grpSp>
        <p:nvGrpSpPr>
          <p:cNvPr id="78" name="Group 77">
            <a:extLst>
              <a:ext uri="{FF2B5EF4-FFF2-40B4-BE49-F238E27FC236}">
                <a16:creationId xmlns:a16="http://schemas.microsoft.com/office/drawing/2014/main" id="{BF7CD4E7-978F-1179-599B-158A727AC571}"/>
              </a:ext>
            </a:extLst>
          </p:cNvPr>
          <p:cNvGrpSpPr/>
          <p:nvPr/>
        </p:nvGrpSpPr>
        <p:grpSpPr>
          <a:xfrm>
            <a:off x="4222047" y="1773400"/>
            <a:ext cx="4992195" cy="5084600"/>
            <a:chOff x="-313056" y="0"/>
            <a:chExt cx="5904952" cy="7674408"/>
          </a:xfrm>
        </p:grpSpPr>
        <p:sp>
          <p:nvSpPr>
            <p:cNvPr id="79" name="Rectangle 78">
              <a:extLst>
                <a:ext uri="{FF2B5EF4-FFF2-40B4-BE49-F238E27FC236}">
                  <a16:creationId xmlns:a16="http://schemas.microsoft.com/office/drawing/2014/main" id="{54424D1E-8CD7-8467-6C8E-8975EE3552AD}"/>
                </a:ext>
              </a:extLst>
            </p:cNvPr>
            <p:cNvSpPr/>
            <p:nvPr/>
          </p:nvSpPr>
          <p:spPr>
            <a:xfrm>
              <a:off x="0" y="0"/>
              <a:ext cx="101346" cy="224380"/>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200" b="1" kern="100">
                  <a:solidFill>
                    <a:srgbClr val="000000"/>
                  </a:solidFill>
                  <a:effectLst/>
                  <a:latin typeface="Times New Roman" panose="02020603050405020304" pitchFamily="18" charset="0"/>
                  <a:ea typeface="Times New Roman" panose="02020603050405020304" pitchFamily="18" charset="0"/>
                </a:rPr>
                <a:t>4</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80" name="Rectangle 79">
              <a:extLst>
                <a:ext uri="{FF2B5EF4-FFF2-40B4-BE49-F238E27FC236}">
                  <a16:creationId xmlns:a16="http://schemas.microsoft.com/office/drawing/2014/main" id="{F973BCF5-31C7-282A-9D13-F299CB2BFA59}"/>
                </a:ext>
              </a:extLst>
            </p:cNvPr>
            <p:cNvSpPr/>
            <p:nvPr/>
          </p:nvSpPr>
          <p:spPr>
            <a:xfrm>
              <a:off x="76200" y="0"/>
              <a:ext cx="152019" cy="224380"/>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200" b="1" kern="100">
                  <a:solidFill>
                    <a:srgbClr val="000000"/>
                  </a:solidFill>
                  <a:effectLst/>
                  <a:latin typeface="Times New Roman" panose="02020603050405020304" pitchFamily="18" charset="0"/>
                  <a:ea typeface="Times New Roman" panose="02020603050405020304" pitchFamily="18" charset="0"/>
                </a:rPr>
                <a:t>.2</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81" name="Rectangle 80">
              <a:extLst>
                <a:ext uri="{FF2B5EF4-FFF2-40B4-BE49-F238E27FC236}">
                  <a16:creationId xmlns:a16="http://schemas.microsoft.com/office/drawing/2014/main" id="{25DBE668-D699-61AC-2A37-8361DFF858A6}"/>
                </a:ext>
              </a:extLst>
            </p:cNvPr>
            <p:cNvSpPr/>
            <p:nvPr/>
          </p:nvSpPr>
          <p:spPr>
            <a:xfrm>
              <a:off x="190500" y="0"/>
              <a:ext cx="477759" cy="224381"/>
            </a:xfrm>
            <a:prstGeom prst="rect">
              <a:avLst/>
            </a:prstGeom>
            <a:ln>
              <a:noFill/>
            </a:ln>
          </p:spPr>
          <p:txBody>
            <a:bodyPr vert="horz" lIns="0" tIns="0" rIns="0" bIns="0" rtlCol="0">
              <a:noAutofit/>
            </a:bodyPr>
            <a:lstStyle/>
            <a:p>
              <a:pPr marL="288290" marR="385445" algn="l">
                <a:lnSpc>
                  <a:spcPct val="107000"/>
                </a:lnSpc>
                <a:spcAft>
                  <a:spcPts val="800"/>
                </a:spcAft>
              </a:pP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82" name="Rectangle 81">
              <a:extLst>
                <a:ext uri="{FF2B5EF4-FFF2-40B4-BE49-F238E27FC236}">
                  <a16:creationId xmlns:a16="http://schemas.microsoft.com/office/drawing/2014/main" id="{DCB2BEA8-4ADD-AA49-3C8F-3882A1E2923E}"/>
                </a:ext>
              </a:extLst>
            </p:cNvPr>
            <p:cNvSpPr/>
            <p:nvPr/>
          </p:nvSpPr>
          <p:spPr>
            <a:xfrm>
              <a:off x="228600" y="0"/>
              <a:ext cx="2718474" cy="224380"/>
            </a:xfrm>
            <a:prstGeom prst="rect">
              <a:avLst/>
            </a:prstGeom>
            <a:ln>
              <a:noFill/>
            </a:ln>
          </p:spPr>
          <p:txBody>
            <a:bodyPr vert="horz" lIns="0" tIns="0" rIns="0" bIns="0" rtlCol="0">
              <a:noAutofit/>
            </a:bodyPr>
            <a:lstStyle/>
            <a:p>
              <a:pPr marL="294640" marR="385445" indent="-6350" algn="l">
                <a:lnSpc>
                  <a:spcPct val="107000"/>
                </a:lnSpc>
                <a:spcAft>
                  <a:spcPts val="800"/>
                </a:spcAft>
              </a:pP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83" name="Rectangle 82">
              <a:extLst>
                <a:ext uri="{FF2B5EF4-FFF2-40B4-BE49-F238E27FC236}">
                  <a16:creationId xmlns:a16="http://schemas.microsoft.com/office/drawing/2014/main" id="{9C4D0FC6-21CA-7D69-CDA7-443E4A814F3D}"/>
                </a:ext>
              </a:extLst>
            </p:cNvPr>
            <p:cNvSpPr/>
            <p:nvPr/>
          </p:nvSpPr>
          <p:spPr>
            <a:xfrm>
              <a:off x="2274138" y="0"/>
              <a:ext cx="50673" cy="224380"/>
            </a:xfrm>
            <a:prstGeom prst="rect">
              <a:avLst/>
            </a:prstGeom>
            <a:ln>
              <a:noFill/>
            </a:ln>
          </p:spPr>
          <p:txBody>
            <a:bodyPr vert="horz" lIns="0" tIns="0" rIns="0" bIns="0" rtlCol="0">
              <a:noAutofit/>
            </a:bodyPr>
            <a:lstStyle/>
            <a:p>
              <a:pPr marL="294640" marR="385445" indent="-6350" algn="l">
                <a:lnSpc>
                  <a:spcPct val="107000"/>
                </a:lnSpc>
                <a:spcAft>
                  <a:spcPts val="800"/>
                </a:spcAft>
              </a:pP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84" name="Rectangle 83">
              <a:extLst>
                <a:ext uri="{FF2B5EF4-FFF2-40B4-BE49-F238E27FC236}">
                  <a16:creationId xmlns:a16="http://schemas.microsoft.com/office/drawing/2014/main" id="{6B71BCDD-B305-A00D-DD39-1BD218043E59}"/>
                </a:ext>
              </a:extLst>
            </p:cNvPr>
            <p:cNvSpPr/>
            <p:nvPr/>
          </p:nvSpPr>
          <p:spPr>
            <a:xfrm>
              <a:off x="5545277" y="6784535"/>
              <a:ext cx="46619" cy="206430"/>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85" name="Rectangle 84">
              <a:extLst>
                <a:ext uri="{FF2B5EF4-FFF2-40B4-BE49-F238E27FC236}">
                  <a16:creationId xmlns:a16="http://schemas.microsoft.com/office/drawing/2014/main" id="{CD02E739-754B-4158-72C9-5FDB69B5EAE1}"/>
                </a:ext>
              </a:extLst>
            </p:cNvPr>
            <p:cNvSpPr/>
            <p:nvPr/>
          </p:nvSpPr>
          <p:spPr>
            <a:xfrm>
              <a:off x="2066874" y="7122893"/>
              <a:ext cx="2407266" cy="186235"/>
            </a:xfrm>
            <a:prstGeom prst="rect">
              <a:avLst/>
            </a:prstGeom>
            <a:ln>
              <a:noFill/>
            </a:ln>
          </p:spPr>
          <p:txBody>
            <a:bodyPr vert="horz" lIns="0" tIns="0" rIns="0" bIns="0" rtlCol="0">
              <a:noAutofit/>
            </a:bodyPr>
            <a:lstStyle/>
            <a:p>
              <a:pPr marL="294640" marR="385445" indent="-6350" algn="l">
                <a:lnSpc>
                  <a:spcPct val="107000"/>
                </a:lnSpc>
                <a:spcAft>
                  <a:spcPts val="800"/>
                </a:spcAft>
              </a:pP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86" name="Rectangle 85">
              <a:extLst>
                <a:ext uri="{FF2B5EF4-FFF2-40B4-BE49-F238E27FC236}">
                  <a16:creationId xmlns:a16="http://schemas.microsoft.com/office/drawing/2014/main" id="{5D9A8A8D-6853-41D1-529D-DABE70226A5A}"/>
                </a:ext>
              </a:extLst>
            </p:cNvPr>
            <p:cNvSpPr/>
            <p:nvPr/>
          </p:nvSpPr>
          <p:spPr>
            <a:xfrm>
              <a:off x="3877640" y="7122893"/>
              <a:ext cx="42058" cy="186235"/>
            </a:xfrm>
            <a:prstGeom prst="rect">
              <a:avLst/>
            </a:prstGeom>
            <a:ln>
              <a:noFill/>
            </a:ln>
          </p:spPr>
          <p:txBody>
            <a:bodyPr vert="horz" lIns="0" tIns="0" rIns="0" bIns="0" rtlCol="0">
              <a:noAutofit/>
            </a:bodyPr>
            <a:lstStyle/>
            <a:p>
              <a:pPr marL="294640" marR="385445" indent="-6350" algn="l">
                <a:lnSpc>
                  <a:spcPct val="107000"/>
                </a:lnSpc>
                <a:spcAft>
                  <a:spcPts val="800"/>
                </a:spcAft>
              </a:pP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pic>
          <p:nvPicPr>
            <p:cNvPr id="87" name="Picture 86">
              <a:extLst>
                <a:ext uri="{FF2B5EF4-FFF2-40B4-BE49-F238E27FC236}">
                  <a16:creationId xmlns:a16="http://schemas.microsoft.com/office/drawing/2014/main" id="{0914D0F7-94E1-E42D-5B90-92EFC7461568}"/>
                </a:ext>
              </a:extLst>
            </p:cNvPr>
            <p:cNvPicPr/>
            <p:nvPr/>
          </p:nvPicPr>
          <p:blipFill>
            <a:blip r:embed="rId2"/>
            <a:stretch>
              <a:fillRect/>
            </a:stretch>
          </p:blipFill>
          <p:spPr>
            <a:xfrm>
              <a:off x="-124661" y="70141"/>
              <a:ext cx="1063906" cy="1052829"/>
            </a:xfrm>
            <a:prstGeom prst="rect">
              <a:avLst/>
            </a:prstGeom>
          </p:spPr>
        </p:pic>
        <p:sp>
          <p:nvSpPr>
            <p:cNvPr id="88" name="Rectangle 87">
              <a:extLst>
                <a:ext uri="{FF2B5EF4-FFF2-40B4-BE49-F238E27FC236}">
                  <a16:creationId xmlns:a16="http://schemas.microsoft.com/office/drawing/2014/main" id="{3FFAF79B-1D76-764C-D62E-1C0B15DBF38D}"/>
                </a:ext>
              </a:extLst>
            </p:cNvPr>
            <p:cNvSpPr/>
            <p:nvPr/>
          </p:nvSpPr>
          <p:spPr>
            <a:xfrm>
              <a:off x="-313056" y="1192158"/>
              <a:ext cx="1696415" cy="263216"/>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Calibri" panose="020F0502020204030204" pitchFamily="34" charset="0"/>
                  <a:ea typeface="Calibri" panose="020F0502020204030204" pitchFamily="34" charset="0"/>
                </a:rPr>
                <a:t>MRI Images</a:t>
              </a: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89" name="Rectangle 88">
              <a:extLst>
                <a:ext uri="{FF2B5EF4-FFF2-40B4-BE49-F238E27FC236}">
                  <a16:creationId xmlns:a16="http://schemas.microsoft.com/office/drawing/2014/main" id="{50557EBE-05AF-B58A-B453-3BEB75B3A3AF}"/>
                </a:ext>
              </a:extLst>
            </p:cNvPr>
            <p:cNvSpPr/>
            <p:nvPr/>
          </p:nvSpPr>
          <p:spPr>
            <a:xfrm>
              <a:off x="918921" y="1249832"/>
              <a:ext cx="42144" cy="189937"/>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Calibri" panose="020F0502020204030204" pitchFamily="34" charset="0"/>
                  <a:ea typeface="Calibri" panose="020F0502020204030204" pitchFamily="34" charset="0"/>
                </a:rPr>
                <a:t> </a:t>
              </a: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90" name="Shape 503">
              <a:extLst>
                <a:ext uri="{FF2B5EF4-FFF2-40B4-BE49-F238E27FC236}">
                  <a16:creationId xmlns:a16="http://schemas.microsoft.com/office/drawing/2014/main" id="{1DAE9DCD-AE96-C416-F4A6-C09F00B0094B}"/>
                </a:ext>
              </a:extLst>
            </p:cNvPr>
            <p:cNvSpPr/>
            <p:nvPr/>
          </p:nvSpPr>
          <p:spPr>
            <a:xfrm>
              <a:off x="1809445" y="735228"/>
              <a:ext cx="1397635" cy="275590"/>
            </a:xfrm>
            <a:custGeom>
              <a:avLst/>
              <a:gdLst/>
              <a:ahLst/>
              <a:cxnLst/>
              <a:rect l="0" t="0" r="0" b="0"/>
              <a:pathLst>
                <a:path w="1397635" h="275590">
                  <a:moveTo>
                    <a:pt x="45974" y="0"/>
                  </a:moveTo>
                  <a:cubicBezTo>
                    <a:pt x="20574" y="0"/>
                    <a:pt x="0" y="20574"/>
                    <a:pt x="0" y="45974"/>
                  </a:cubicBezTo>
                  <a:lnTo>
                    <a:pt x="0" y="229616"/>
                  </a:lnTo>
                  <a:cubicBezTo>
                    <a:pt x="0" y="255016"/>
                    <a:pt x="20574" y="275590"/>
                    <a:pt x="45974" y="275590"/>
                  </a:cubicBezTo>
                  <a:lnTo>
                    <a:pt x="1351661" y="275590"/>
                  </a:lnTo>
                  <a:cubicBezTo>
                    <a:pt x="1377061" y="275590"/>
                    <a:pt x="1397635" y="255016"/>
                    <a:pt x="1397635" y="229616"/>
                  </a:cubicBezTo>
                  <a:lnTo>
                    <a:pt x="1397635" y="45974"/>
                  </a:lnTo>
                  <a:cubicBezTo>
                    <a:pt x="1397635" y="20574"/>
                    <a:pt x="1377061" y="0"/>
                    <a:pt x="1351661" y="0"/>
                  </a:cubicBezTo>
                  <a:close/>
                </a:path>
              </a:pathLst>
            </a:custGeom>
            <a:ln w="9525" cap="rnd">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91" name="Rectangle 90">
              <a:extLst>
                <a:ext uri="{FF2B5EF4-FFF2-40B4-BE49-F238E27FC236}">
                  <a16:creationId xmlns:a16="http://schemas.microsoft.com/office/drawing/2014/main" id="{64F5F33A-A69F-A598-E9B8-7339D075BC4A}"/>
                </a:ext>
              </a:extLst>
            </p:cNvPr>
            <p:cNvSpPr/>
            <p:nvPr/>
          </p:nvSpPr>
          <p:spPr>
            <a:xfrm>
              <a:off x="1537795" y="731746"/>
              <a:ext cx="3710110" cy="159485"/>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Times New Roman" panose="02020603050405020304" pitchFamily="18" charset="0"/>
                  <a:ea typeface="Times New Roman" panose="02020603050405020304" pitchFamily="18" charset="0"/>
                </a:rPr>
                <a:t>Dataset Collection</a:t>
              </a:r>
            </a:p>
          </p:txBody>
        </p:sp>
        <p:sp>
          <p:nvSpPr>
            <p:cNvPr id="92" name="Rectangle 91">
              <a:extLst>
                <a:ext uri="{FF2B5EF4-FFF2-40B4-BE49-F238E27FC236}">
                  <a16:creationId xmlns:a16="http://schemas.microsoft.com/office/drawing/2014/main" id="{8222A382-89AA-C884-267F-316788A11440}"/>
                </a:ext>
              </a:extLst>
            </p:cNvPr>
            <p:cNvSpPr/>
            <p:nvPr/>
          </p:nvSpPr>
          <p:spPr>
            <a:xfrm>
              <a:off x="3075762" y="798577"/>
              <a:ext cx="402966" cy="157738"/>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200" kern="100" dirty="0">
                  <a:solidFill>
                    <a:srgbClr val="000000"/>
                  </a:solidFill>
                  <a:effectLst/>
                  <a:latin typeface="Times New Roman" panose="02020603050405020304" pitchFamily="18" charset="0"/>
                  <a:ea typeface="Times New Roman" panose="02020603050405020304" pitchFamily="18" charset="0"/>
                </a:rPr>
                <a:t> </a:t>
              </a:r>
            </a:p>
          </p:txBody>
        </p:sp>
        <p:pic>
          <p:nvPicPr>
            <p:cNvPr id="93" name="Picture 92">
              <a:extLst>
                <a:ext uri="{FF2B5EF4-FFF2-40B4-BE49-F238E27FC236}">
                  <a16:creationId xmlns:a16="http://schemas.microsoft.com/office/drawing/2014/main" id="{16E430BA-7BE4-37E9-8CCD-47E54765DFA8}"/>
                </a:ext>
              </a:extLst>
            </p:cNvPr>
            <p:cNvPicPr/>
            <p:nvPr/>
          </p:nvPicPr>
          <p:blipFill>
            <a:blip r:embed="rId3"/>
            <a:stretch>
              <a:fillRect/>
            </a:stretch>
          </p:blipFill>
          <p:spPr>
            <a:xfrm>
              <a:off x="2159965" y="1808378"/>
              <a:ext cx="675640" cy="676275"/>
            </a:xfrm>
            <a:prstGeom prst="rect">
              <a:avLst/>
            </a:prstGeom>
          </p:spPr>
        </p:pic>
        <p:pic>
          <p:nvPicPr>
            <p:cNvPr id="94" name="Picture 93">
              <a:extLst>
                <a:ext uri="{FF2B5EF4-FFF2-40B4-BE49-F238E27FC236}">
                  <a16:creationId xmlns:a16="http://schemas.microsoft.com/office/drawing/2014/main" id="{FD635E19-62CD-3600-582C-E5AF847F6A3F}"/>
                </a:ext>
              </a:extLst>
            </p:cNvPr>
            <p:cNvPicPr/>
            <p:nvPr/>
          </p:nvPicPr>
          <p:blipFill>
            <a:blip r:embed="rId4"/>
            <a:stretch>
              <a:fillRect/>
            </a:stretch>
          </p:blipFill>
          <p:spPr>
            <a:xfrm>
              <a:off x="1985975" y="3336824"/>
              <a:ext cx="1169035" cy="1019175"/>
            </a:xfrm>
            <a:prstGeom prst="rect">
              <a:avLst/>
            </a:prstGeom>
          </p:spPr>
        </p:pic>
        <p:pic>
          <p:nvPicPr>
            <p:cNvPr id="95" name="Picture 94">
              <a:extLst>
                <a:ext uri="{FF2B5EF4-FFF2-40B4-BE49-F238E27FC236}">
                  <a16:creationId xmlns:a16="http://schemas.microsoft.com/office/drawing/2014/main" id="{FECD1E4A-549C-920D-3148-ADFADE96CFAC}"/>
                </a:ext>
              </a:extLst>
            </p:cNvPr>
            <p:cNvPicPr/>
            <p:nvPr/>
          </p:nvPicPr>
          <p:blipFill>
            <a:blip r:embed="rId5"/>
            <a:stretch>
              <a:fillRect/>
            </a:stretch>
          </p:blipFill>
          <p:spPr>
            <a:xfrm>
              <a:off x="4238321" y="5004333"/>
              <a:ext cx="610870" cy="610870"/>
            </a:xfrm>
            <a:prstGeom prst="rect">
              <a:avLst/>
            </a:prstGeom>
          </p:spPr>
        </p:pic>
        <p:pic>
          <p:nvPicPr>
            <p:cNvPr id="96" name="Picture 95">
              <a:extLst>
                <a:ext uri="{FF2B5EF4-FFF2-40B4-BE49-F238E27FC236}">
                  <a16:creationId xmlns:a16="http://schemas.microsoft.com/office/drawing/2014/main" id="{E4C82F8F-C6E8-B291-1EEC-DDBB46081ED5}"/>
                </a:ext>
              </a:extLst>
            </p:cNvPr>
            <p:cNvPicPr/>
            <p:nvPr/>
          </p:nvPicPr>
          <p:blipFill>
            <a:blip r:embed="rId6"/>
            <a:stretch>
              <a:fillRect/>
            </a:stretch>
          </p:blipFill>
          <p:spPr>
            <a:xfrm>
              <a:off x="2159965" y="4949089"/>
              <a:ext cx="822325" cy="822325"/>
            </a:xfrm>
            <a:prstGeom prst="rect">
              <a:avLst/>
            </a:prstGeom>
          </p:spPr>
        </p:pic>
        <p:sp>
          <p:nvSpPr>
            <p:cNvPr id="97" name="Rectangle 96">
              <a:extLst>
                <a:ext uri="{FF2B5EF4-FFF2-40B4-BE49-F238E27FC236}">
                  <a16:creationId xmlns:a16="http://schemas.microsoft.com/office/drawing/2014/main" id="{67BCB753-08BD-A562-BB4B-5EB8955F5B21}"/>
                </a:ext>
              </a:extLst>
            </p:cNvPr>
            <p:cNvSpPr/>
            <p:nvPr/>
          </p:nvSpPr>
          <p:spPr>
            <a:xfrm>
              <a:off x="1877078" y="5771413"/>
              <a:ext cx="1637765" cy="189936"/>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Calibri" panose="020F0502020204030204" pitchFamily="34" charset="0"/>
                  <a:ea typeface="Calibri" panose="020F0502020204030204" pitchFamily="34" charset="0"/>
                </a:rPr>
                <a:t>Web App</a:t>
              </a: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98" name="Rectangle 97">
              <a:extLst>
                <a:ext uri="{FF2B5EF4-FFF2-40B4-BE49-F238E27FC236}">
                  <a16:creationId xmlns:a16="http://schemas.microsoft.com/office/drawing/2014/main" id="{D5B40F3B-1F8D-F6EC-216D-040938626BB6}"/>
                </a:ext>
              </a:extLst>
            </p:cNvPr>
            <p:cNvSpPr/>
            <p:nvPr/>
          </p:nvSpPr>
          <p:spPr>
            <a:xfrm>
              <a:off x="2772486" y="5791988"/>
              <a:ext cx="42143" cy="189936"/>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Calibri" panose="020F0502020204030204" pitchFamily="34" charset="0"/>
                  <a:ea typeface="Calibri" panose="020F0502020204030204" pitchFamily="34" charset="0"/>
                </a:rPr>
                <a:t> </a:t>
              </a: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99" name="Shape 518">
              <a:extLst>
                <a:ext uri="{FF2B5EF4-FFF2-40B4-BE49-F238E27FC236}">
                  <a16:creationId xmlns:a16="http://schemas.microsoft.com/office/drawing/2014/main" id="{F429C1D2-9E75-1C86-1ED4-B045B6C09EF8}"/>
                </a:ext>
              </a:extLst>
            </p:cNvPr>
            <p:cNvSpPr/>
            <p:nvPr/>
          </p:nvSpPr>
          <p:spPr>
            <a:xfrm>
              <a:off x="1655140" y="6527063"/>
              <a:ext cx="1857375" cy="375920"/>
            </a:xfrm>
            <a:custGeom>
              <a:avLst/>
              <a:gdLst/>
              <a:ahLst/>
              <a:cxnLst/>
              <a:rect l="0" t="0" r="0" b="0"/>
              <a:pathLst>
                <a:path w="1857375" h="375920">
                  <a:moveTo>
                    <a:pt x="62611" y="0"/>
                  </a:moveTo>
                  <a:cubicBezTo>
                    <a:pt x="28067" y="0"/>
                    <a:pt x="0" y="28067"/>
                    <a:pt x="0" y="62611"/>
                  </a:cubicBezTo>
                  <a:lnTo>
                    <a:pt x="0" y="313309"/>
                  </a:lnTo>
                  <a:cubicBezTo>
                    <a:pt x="0" y="347852"/>
                    <a:pt x="28067" y="375920"/>
                    <a:pt x="62611" y="375920"/>
                  </a:cubicBezTo>
                  <a:lnTo>
                    <a:pt x="1794764" y="375920"/>
                  </a:lnTo>
                  <a:cubicBezTo>
                    <a:pt x="1829308" y="375920"/>
                    <a:pt x="1857375" y="347852"/>
                    <a:pt x="1857375" y="313309"/>
                  </a:cubicBezTo>
                  <a:lnTo>
                    <a:pt x="1857375" y="62611"/>
                  </a:lnTo>
                  <a:cubicBezTo>
                    <a:pt x="1857375" y="28067"/>
                    <a:pt x="1829308" y="0"/>
                    <a:pt x="1794764" y="0"/>
                  </a:cubicBezTo>
                  <a:close/>
                </a:path>
              </a:pathLst>
            </a:custGeom>
            <a:ln w="9525" cap="rnd">
              <a:round/>
            </a:ln>
          </p:spPr>
          <p:style>
            <a:lnRef idx="1">
              <a:srgbClr val="000000"/>
            </a:lnRef>
            <a:fillRef idx="0">
              <a:srgbClr val="000000">
                <a:alpha val="0"/>
              </a:srgbClr>
            </a:fillRef>
            <a:effectRef idx="0">
              <a:scrgbClr r="0" g="0" b="0"/>
            </a:effectRef>
            <a:fontRef idx="none"/>
          </p:style>
          <p:txBody>
            <a:bodyPr/>
            <a:lstStyle/>
            <a:p>
              <a:endParaRPr lang="en-IN"/>
            </a:p>
          </p:txBody>
        </p:sp>
        <p:sp>
          <p:nvSpPr>
            <p:cNvPr id="100" name="Rectangle 99">
              <a:extLst>
                <a:ext uri="{FF2B5EF4-FFF2-40B4-BE49-F238E27FC236}">
                  <a16:creationId xmlns:a16="http://schemas.microsoft.com/office/drawing/2014/main" id="{5A68F819-F516-285C-5CAA-D0C1B1074A79}"/>
                </a:ext>
              </a:extLst>
            </p:cNvPr>
            <p:cNvSpPr/>
            <p:nvPr/>
          </p:nvSpPr>
          <p:spPr>
            <a:xfrm>
              <a:off x="2060782" y="7175659"/>
              <a:ext cx="2163738" cy="498749"/>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200" kern="100" dirty="0">
                  <a:solidFill>
                    <a:srgbClr val="000000"/>
                  </a:solidFill>
                  <a:effectLst/>
                  <a:latin typeface="Times New Roman" panose="02020603050405020304" pitchFamily="18" charset="0"/>
                  <a:ea typeface="Times New Roman" panose="02020603050405020304" pitchFamily="18" charset="0"/>
                </a:rPr>
                <a:t> </a:t>
              </a:r>
            </a:p>
          </p:txBody>
        </p:sp>
        <p:sp>
          <p:nvSpPr>
            <p:cNvPr id="101" name="Rectangle 100">
              <a:extLst>
                <a:ext uri="{FF2B5EF4-FFF2-40B4-BE49-F238E27FC236}">
                  <a16:creationId xmlns:a16="http://schemas.microsoft.com/office/drawing/2014/main" id="{CDE0FC1E-D07F-7095-4A16-C928995A9AA8}"/>
                </a:ext>
              </a:extLst>
            </p:cNvPr>
            <p:cNvSpPr/>
            <p:nvPr/>
          </p:nvSpPr>
          <p:spPr>
            <a:xfrm>
              <a:off x="1765033" y="6549778"/>
              <a:ext cx="2182534" cy="262200"/>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200" kern="100" dirty="0">
                  <a:solidFill>
                    <a:srgbClr val="000000"/>
                  </a:solidFill>
                  <a:effectLst/>
                  <a:latin typeface="Times New Roman" panose="02020603050405020304" pitchFamily="18" charset="0"/>
                  <a:ea typeface="Times New Roman" panose="02020603050405020304" pitchFamily="18" charset="0"/>
                </a:rPr>
                <a:t>Classification</a:t>
              </a:r>
            </a:p>
          </p:txBody>
        </p:sp>
        <p:sp>
          <p:nvSpPr>
            <p:cNvPr id="102" name="Rectangle 101">
              <a:extLst>
                <a:ext uri="{FF2B5EF4-FFF2-40B4-BE49-F238E27FC236}">
                  <a16:creationId xmlns:a16="http://schemas.microsoft.com/office/drawing/2014/main" id="{34F9409B-4401-07D0-D28A-559D007FE888}"/>
                </a:ext>
              </a:extLst>
            </p:cNvPr>
            <p:cNvSpPr/>
            <p:nvPr/>
          </p:nvSpPr>
          <p:spPr>
            <a:xfrm>
              <a:off x="3229940" y="6598412"/>
              <a:ext cx="50673" cy="224380"/>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200" kern="100">
                  <a:solidFill>
                    <a:srgbClr val="000000"/>
                  </a:solidFill>
                  <a:effectLst/>
                  <a:latin typeface="Times New Roman" panose="02020603050405020304" pitchFamily="18" charset="0"/>
                  <a:ea typeface="Times New Roman" panose="02020603050405020304" pitchFamily="18" charset="0"/>
                </a:rPr>
                <a:t> </a:t>
              </a:r>
            </a:p>
          </p:txBody>
        </p:sp>
        <p:sp>
          <p:nvSpPr>
            <p:cNvPr id="103" name="Rectangle 102">
              <a:extLst>
                <a:ext uri="{FF2B5EF4-FFF2-40B4-BE49-F238E27FC236}">
                  <a16:creationId xmlns:a16="http://schemas.microsoft.com/office/drawing/2014/main" id="{9B7B75A7-113D-26E0-7664-CF918F11E125}"/>
                </a:ext>
              </a:extLst>
            </p:cNvPr>
            <p:cNvSpPr/>
            <p:nvPr/>
          </p:nvSpPr>
          <p:spPr>
            <a:xfrm>
              <a:off x="4106248" y="5736910"/>
              <a:ext cx="1212560" cy="69006"/>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Calibri" panose="020F0502020204030204" pitchFamily="34" charset="0"/>
                  <a:ea typeface="Calibri" panose="020F0502020204030204" pitchFamily="34" charset="0"/>
                </a:rPr>
                <a:t>User</a:t>
              </a: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104" name="Rectangle 103">
              <a:extLst>
                <a:ext uri="{FF2B5EF4-FFF2-40B4-BE49-F238E27FC236}">
                  <a16:creationId xmlns:a16="http://schemas.microsoft.com/office/drawing/2014/main" id="{4F5F4D7E-4683-DA4D-5304-1E39EFBC37BC}"/>
                </a:ext>
              </a:extLst>
            </p:cNvPr>
            <p:cNvSpPr/>
            <p:nvPr/>
          </p:nvSpPr>
          <p:spPr>
            <a:xfrm>
              <a:off x="4691457" y="5868188"/>
              <a:ext cx="42143" cy="189936"/>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a:solidFill>
                    <a:srgbClr val="000000"/>
                  </a:solidFill>
                  <a:effectLst/>
                  <a:latin typeface="Calibri" panose="020F0502020204030204" pitchFamily="34" charset="0"/>
                  <a:ea typeface="Calibri" panose="020F0502020204030204" pitchFamily="34"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05" name="Rectangle 104">
              <a:extLst>
                <a:ext uri="{FF2B5EF4-FFF2-40B4-BE49-F238E27FC236}">
                  <a16:creationId xmlns:a16="http://schemas.microsoft.com/office/drawing/2014/main" id="{84D7B3FA-DC68-1260-8B9E-4EC5FCEB83CB}"/>
                </a:ext>
              </a:extLst>
            </p:cNvPr>
            <p:cNvSpPr/>
            <p:nvPr/>
          </p:nvSpPr>
          <p:spPr>
            <a:xfrm>
              <a:off x="1661023" y="2571195"/>
              <a:ext cx="1781725" cy="166242"/>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Calibri" panose="020F0502020204030204" pitchFamily="34" charset="0"/>
                  <a:ea typeface="Calibri" panose="020F0502020204030204" pitchFamily="34" charset="0"/>
                </a:rPr>
                <a:t>Pre Processing</a:t>
              </a: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106" name="Rectangle 105">
              <a:extLst>
                <a:ext uri="{FF2B5EF4-FFF2-40B4-BE49-F238E27FC236}">
                  <a16:creationId xmlns:a16="http://schemas.microsoft.com/office/drawing/2014/main" id="{BAA2DF57-6191-7042-B78E-2F34012D96AA}"/>
                </a:ext>
              </a:extLst>
            </p:cNvPr>
            <p:cNvSpPr/>
            <p:nvPr/>
          </p:nvSpPr>
          <p:spPr>
            <a:xfrm>
              <a:off x="2921838" y="2588286"/>
              <a:ext cx="42143" cy="189937"/>
            </a:xfrm>
            <a:prstGeom prst="rect">
              <a:avLst/>
            </a:prstGeom>
            <a:ln>
              <a:noFill/>
            </a:ln>
          </p:spPr>
          <p:txBody>
            <a:bodyPr vert="horz" lIns="0" tIns="0" rIns="0" bIns="0" rtlCol="0">
              <a:noAutofit/>
            </a:bodyPr>
            <a:lstStyle/>
            <a:p>
              <a:pPr marL="294640" marR="385445" indent="-6350" algn="l">
                <a:lnSpc>
                  <a:spcPct val="107000"/>
                </a:lnSpc>
                <a:spcAft>
                  <a:spcPts val="800"/>
                </a:spcAft>
              </a:pPr>
              <a:r>
                <a:rPr lang="en-IN" sz="1100" kern="100" dirty="0">
                  <a:solidFill>
                    <a:srgbClr val="000000"/>
                  </a:solidFill>
                  <a:effectLst/>
                  <a:latin typeface="Calibri" panose="020F0502020204030204" pitchFamily="34" charset="0"/>
                  <a:ea typeface="Calibri" panose="020F0502020204030204" pitchFamily="34" charset="0"/>
                </a:rPr>
                <a:t> </a:t>
              </a:r>
              <a:endParaRPr lang="en-IN" sz="1200" kern="100" dirty="0">
                <a:solidFill>
                  <a:srgbClr val="000000"/>
                </a:solidFill>
                <a:effectLst/>
                <a:latin typeface="Times New Roman" panose="02020603050405020304" pitchFamily="18" charset="0"/>
                <a:ea typeface="Times New Roman" panose="02020603050405020304" pitchFamily="18" charset="0"/>
              </a:endParaRPr>
            </a:p>
          </p:txBody>
        </p:sp>
        <p:sp>
          <p:nvSpPr>
            <p:cNvPr id="107" name="Shape 528">
              <a:extLst>
                <a:ext uri="{FF2B5EF4-FFF2-40B4-BE49-F238E27FC236}">
                  <a16:creationId xmlns:a16="http://schemas.microsoft.com/office/drawing/2014/main" id="{C88DEBE9-B645-C16A-2F1D-300474418355}"/>
                </a:ext>
              </a:extLst>
            </p:cNvPr>
            <p:cNvSpPr/>
            <p:nvPr/>
          </p:nvSpPr>
          <p:spPr>
            <a:xfrm>
              <a:off x="1070305" y="801777"/>
              <a:ext cx="626110" cy="76200"/>
            </a:xfrm>
            <a:custGeom>
              <a:avLst/>
              <a:gdLst/>
              <a:ahLst/>
              <a:cxnLst/>
              <a:rect l="0" t="0" r="0" b="0"/>
              <a:pathLst>
                <a:path w="626110" h="76200">
                  <a:moveTo>
                    <a:pt x="549910" y="0"/>
                  </a:moveTo>
                  <a:lnTo>
                    <a:pt x="626110" y="38226"/>
                  </a:lnTo>
                  <a:lnTo>
                    <a:pt x="549910" y="76200"/>
                  </a:lnTo>
                  <a:lnTo>
                    <a:pt x="549910" y="44439"/>
                  </a:lnTo>
                  <a:lnTo>
                    <a:pt x="0" y="43942"/>
                  </a:lnTo>
                  <a:lnTo>
                    <a:pt x="0" y="31242"/>
                  </a:lnTo>
                  <a:lnTo>
                    <a:pt x="549910" y="31739"/>
                  </a:lnTo>
                  <a:lnTo>
                    <a:pt x="549910"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IN"/>
            </a:p>
          </p:txBody>
        </p:sp>
        <p:sp>
          <p:nvSpPr>
            <p:cNvPr id="108" name="Shape 529">
              <a:extLst>
                <a:ext uri="{FF2B5EF4-FFF2-40B4-BE49-F238E27FC236}">
                  <a16:creationId xmlns:a16="http://schemas.microsoft.com/office/drawing/2014/main" id="{9F733C46-5FB7-F094-ED5A-FD41A2D0FF67}"/>
                </a:ext>
              </a:extLst>
            </p:cNvPr>
            <p:cNvSpPr/>
            <p:nvPr/>
          </p:nvSpPr>
          <p:spPr>
            <a:xfrm>
              <a:off x="2456002" y="1099591"/>
              <a:ext cx="76200" cy="576073"/>
            </a:xfrm>
            <a:custGeom>
              <a:avLst/>
              <a:gdLst/>
              <a:ahLst/>
              <a:cxnLst/>
              <a:rect l="0" t="0" r="0" b="0"/>
              <a:pathLst>
                <a:path w="76200" h="576073">
                  <a:moveTo>
                    <a:pt x="37338" y="0"/>
                  </a:moveTo>
                  <a:lnTo>
                    <a:pt x="44522" y="499787"/>
                  </a:lnTo>
                  <a:lnTo>
                    <a:pt x="76200" y="499364"/>
                  </a:lnTo>
                  <a:lnTo>
                    <a:pt x="39243" y="576073"/>
                  </a:lnTo>
                  <a:lnTo>
                    <a:pt x="0" y="500380"/>
                  </a:lnTo>
                  <a:lnTo>
                    <a:pt x="31821" y="499956"/>
                  </a:lnTo>
                  <a:lnTo>
                    <a:pt x="24638" y="254"/>
                  </a:lnTo>
                  <a:lnTo>
                    <a:pt x="37338"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IN"/>
            </a:p>
          </p:txBody>
        </p:sp>
        <p:sp>
          <p:nvSpPr>
            <p:cNvPr id="109" name="Shape 530">
              <a:extLst>
                <a:ext uri="{FF2B5EF4-FFF2-40B4-BE49-F238E27FC236}">
                  <a16:creationId xmlns:a16="http://schemas.microsoft.com/office/drawing/2014/main" id="{7299CBBA-CAC7-A2AC-1407-175D01E23EF3}"/>
                </a:ext>
              </a:extLst>
            </p:cNvPr>
            <p:cNvSpPr/>
            <p:nvPr/>
          </p:nvSpPr>
          <p:spPr>
            <a:xfrm>
              <a:off x="2457653" y="2771038"/>
              <a:ext cx="76200" cy="527685"/>
            </a:xfrm>
            <a:custGeom>
              <a:avLst/>
              <a:gdLst/>
              <a:ahLst/>
              <a:cxnLst/>
              <a:rect l="0" t="0" r="0" b="0"/>
              <a:pathLst>
                <a:path w="76200" h="527685">
                  <a:moveTo>
                    <a:pt x="31242" y="0"/>
                  </a:moveTo>
                  <a:lnTo>
                    <a:pt x="43942" y="0"/>
                  </a:lnTo>
                  <a:lnTo>
                    <a:pt x="44436" y="451485"/>
                  </a:lnTo>
                  <a:lnTo>
                    <a:pt x="76200" y="451485"/>
                  </a:lnTo>
                  <a:lnTo>
                    <a:pt x="38227" y="527685"/>
                  </a:lnTo>
                  <a:lnTo>
                    <a:pt x="0" y="451485"/>
                  </a:lnTo>
                  <a:lnTo>
                    <a:pt x="31736" y="451485"/>
                  </a:lnTo>
                  <a:lnTo>
                    <a:pt x="31242"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IN"/>
            </a:p>
          </p:txBody>
        </p:sp>
        <p:sp>
          <p:nvSpPr>
            <p:cNvPr id="110" name="Shape 531">
              <a:extLst>
                <a:ext uri="{FF2B5EF4-FFF2-40B4-BE49-F238E27FC236}">
                  <a16:creationId xmlns:a16="http://schemas.microsoft.com/office/drawing/2014/main" id="{97F1D1FE-2DDF-1DD2-CCCA-3E6B8837EC43}"/>
                </a:ext>
              </a:extLst>
            </p:cNvPr>
            <p:cNvSpPr/>
            <p:nvPr/>
          </p:nvSpPr>
          <p:spPr>
            <a:xfrm>
              <a:off x="2464257" y="4336822"/>
              <a:ext cx="76200" cy="574167"/>
            </a:xfrm>
            <a:custGeom>
              <a:avLst/>
              <a:gdLst/>
              <a:ahLst/>
              <a:cxnLst/>
              <a:rect l="0" t="0" r="0" b="0"/>
              <a:pathLst>
                <a:path w="76200" h="574167">
                  <a:moveTo>
                    <a:pt x="37338" y="0"/>
                  </a:moveTo>
                  <a:lnTo>
                    <a:pt x="44521" y="497881"/>
                  </a:lnTo>
                  <a:lnTo>
                    <a:pt x="76200" y="497459"/>
                  </a:lnTo>
                  <a:lnTo>
                    <a:pt x="39243" y="574167"/>
                  </a:lnTo>
                  <a:lnTo>
                    <a:pt x="0" y="498475"/>
                  </a:lnTo>
                  <a:lnTo>
                    <a:pt x="31820" y="498051"/>
                  </a:lnTo>
                  <a:lnTo>
                    <a:pt x="24638" y="254"/>
                  </a:lnTo>
                  <a:lnTo>
                    <a:pt x="37338"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IN"/>
            </a:p>
          </p:txBody>
        </p:sp>
        <p:sp>
          <p:nvSpPr>
            <p:cNvPr id="111" name="Shape 532">
              <a:extLst>
                <a:ext uri="{FF2B5EF4-FFF2-40B4-BE49-F238E27FC236}">
                  <a16:creationId xmlns:a16="http://schemas.microsoft.com/office/drawing/2014/main" id="{55675D88-1EA3-CD10-0CCC-F4FA63E9B513}"/>
                </a:ext>
              </a:extLst>
            </p:cNvPr>
            <p:cNvSpPr/>
            <p:nvPr/>
          </p:nvSpPr>
          <p:spPr>
            <a:xfrm>
              <a:off x="2513787" y="5936387"/>
              <a:ext cx="76200" cy="574167"/>
            </a:xfrm>
            <a:custGeom>
              <a:avLst/>
              <a:gdLst/>
              <a:ahLst/>
              <a:cxnLst/>
              <a:rect l="0" t="0" r="0" b="0"/>
              <a:pathLst>
                <a:path w="76200" h="574167">
                  <a:moveTo>
                    <a:pt x="37338" y="0"/>
                  </a:moveTo>
                  <a:lnTo>
                    <a:pt x="44522" y="497881"/>
                  </a:lnTo>
                  <a:lnTo>
                    <a:pt x="76200" y="497459"/>
                  </a:lnTo>
                  <a:lnTo>
                    <a:pt x="39243" y="574167"/>
                  </a:lnTo>
                  <a:lnTo>
                    <a:pt x="0" y="498475"/>
                  </a:lnTo>
                  <a:lnTo>
                    <a:pt x="31821" y="498051"/>
                  </a:lnTo>
                  <a:lnTo>
                    <a:pt x="24638" y="254"/>
                  </a:lnTo>
                  <a:lnTo>
                    <a:pt x="37338"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IN"/>
            </a:p>
          </p:txBody>
        </p:sp>
        <p:sp>
          <p:nvSpPr>
            <p:cNvPr id="112" name="Shape 533">
              <a:extLst>
                <a:ext uri="{FF2B5EF4-FFF2-40B4-BE49-F238E27FC236}">
                  <a16:creationId xmlns:a16="http://schemas.microsoft.com/office/drawing/2014/main" id="{C3E1CC91-BF62-0D36-DD44-6FBFD411B8A0}"/>
                </a:ext>
              </a:extLst>
            </p:cNvPr>
            <p:cNvSpPr/>
            <p:nvPr/>
          </p:nvSpPr>
          <p:spPr>
            <a:xfrm>
              <a:off x="3094685" y="5301387"/>
              <a:ext cx="1007110" cy="76200"/>
            </a:xfrm>
            <a:custGeom>
              <a:avLst/>
              <a:gdLst/>
              <a:ahLst/>
              <a:cxnLst/>
              <a:rect l="0" t="0" r="0" b="0"/>
              <a:pathLst>
                <a:path w="1007110" h="76200">
                  <a:moveTo>
                    <a:pt x="76073" y="0"/>
                  </a:moveTo>
                  <a:lnTo>
                    <a:pt x="76179" y="31726"/>
                  </a:lnTo>
                  <a:lnTo>
                    <a:pt x="1007110" y="29972"/>
                  </a:lnTo>
                  <a:lnTo>
                    <a:pt x="1007110" y="42672"/>
                  </a:lnTo>
                  <a:lnTo>
                    <a:pt x="76221" y="44426"/>
                  </a:lnTo>
                  <a:lnTo>
                    <a:pt x="76327" y="76200"/>
                  </a:lnTo>
                  <a:lnTo>
                    <a:pt x="0" y="38227"/>
                  </a:lnTo>
                  <a:lnTo>
                    <a:pt x="76073" y="0"/>
                  </a:lnTo>
                  <a:close/>
                </a:path>
              </a:pathLst>
            </a:custGeom>
            <a:ln w="0" cap="rnd">
              <a:round/>
            </a:ln>
          </p:spPr>
          <p:style>
            <a:lnRef idx="0">
              <a:srgbClr val="000000">
                <a:alpha val="0"/>
              </a:srgbClr>
            </a:lnRef>
            <a:fillRef idx="1">
              <a:srgbClr val="000000"/>
            </a:fillRef>
            <a:effectRef idx="0">
              <a:scrgbClr r="0" g="0" b="0"/>
            </a:effectRef>
            <a:fontRef idx="none"/>
          </p:style>
          <p:txBody>
            <a:bodyPr/>
            <a:lstStyle/>
            <a:p>
              <a:endParaRPr lang="en-IN"/>
            </a:p>
          </p:txBody>
        </p:sp>
      </p:grpSp>
    </p:spTree>
    <p:extLst>
      <p:ext uri="{BB962C8B-B14F-4D97-AF65-F5344CB8AC3E}">
        <p14:creationId xmlns:p14="http://schemas.microsoft.com/office/powerpoint/2010/main" val="371360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C1486-4411-0C48-6EB1-64DC333A58E5}"/>
              </a:ext>
            </a:extLst>
          </p:cNvPr>
          <p:cNvSpPr>
            <a:spLocks noGrp="1"/>
          </p:cNvSpPr>
          <p:nvPr>
            <p:ph type="title"/>
          </p:nvPr>
        </p:nvSpPr>
        <p:spPr>
          <a:xfrm>
            <a:off x="903514" y="690076"/>
            <a:ext cx="10515600" cy="1123951"/>
          </a:xfrm>
        </p:spPr>
        <p:txBody>
          <a:bodyPr>
            <a:normAutofit/>
          </a:bodyPr>
          <a:lstStyle/>
          <a:p>
            <a:pPr algn="ctr"/>
            <a:r>
              <a:rPr lang="en-IN" sz="2800" dirty="0">
                <a:latin typeface="Times New Roman" panose="02020603050405020304" pitchFamily="18" charset="0"/>
                <a:cs typeface="Times New Roman" panose="02020603050405020304" pitchFamily="18" charset="0"/>
              </a:rPr>
              <a:t>ALGORITHM AND DESCRIPTION</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B2ECC7-4668-DF75-D578-E3C93A17F347}"/>
              </a:ext>
            </a:extLst>
          </p:cNvPr>
          <p:cNvSpPr>
            <a:spLocks noGrp="1"/>
          </p:cNvSpPr>
          <p:nvPr>
            <p:ph idx="1"/>
          </p:nvPr>
        </p:nvSpPr>
        <p:spPr>
          <a:xfrm>
            <a:off x="903514" y="1289649"/>
            <a:ext cx="10515600" cy="5299409"/>
          </a:xfrm>
        </p:spPr>
        <p:txBody>
          <a:bodyPr>
            <a:normAutofit fontScale="25000" lnSpcReduction="20000"/>
          </a:bodyPr>
          <a:lstStyle/>
          <a:p>
            <a:pPr marL="539750" marR="128270" indent="0" algn="just">
              <a:lnSpc>
                <a:spcPct val="170000"/>
              </a:lnSpc>
              <a:spcBef>
                <a:spcPts val="25"/>
              </a:spcBef>
              <a:spcAft>
                <a:spcPts val="25"/>
              </a:spcAft>
              <a:buNone/>
            </a:pPr>
            <a:r>
              <a:rPr lang="en-IN" sz="7200" dirty="0">
                <a:solidFill>
                  <a:srgbClr val="000000"/>
                </a:solidFill>
                <a:effectLst/>
                <a:latin typeface="Times New Roman" panose="02020603050405020304" pitchFamily="18" charset="0"/>
                <a:ea typeface="Times New Roman" panose="02020603050405020304" pitchFamily="18" charset="0"/>
              </a:rPr>
              <a:t>	</a:t>
            </a:r>
            <a:r>
              <a:rPr lang="en-IN" sz="8000" dirty="0">
                <a:solidFill>
                  <a:srgbClr val="000000"/>
                </a:solidFill>
                <a:effectLst/>
                <a:latin typeface="Times New Roman" panose="02020603050405020304" pitchFamily="18" charset="0"/>
                <a:ea typeface="Times New Roman" panose="02020603050405020304" pitchFamily="18" charset="0"/>
              </a:rPr>
              <a:t>The CNN (Convolutional Neural Network) algorithm is a type of deep learning algorithm specifically designed for </a:t>
            </a:r>
            <a:r>
              <a:rPr lang="en-IN" sz="8000" dirty="0" err="1">
                <a:solidFill>
                  <a:srgbClr val="000000"/>
                </a:solidFill>
                <a:effectLst/>
                <a:latin typeface="Times New Roman" panose="02020603050405020304" pitchFamily="18" charset="0"/>
                <a:ea typeface="Times New Roman" panose="02020603050405020304" pitchFamily="18" charset="0"/>
              </a:rPr>
              <a:t>analyzing</a:t>
            </a:r>
            <a:r>
              <a:rPr lang="en-IN" sz="8000" dirty="0">
                <a:solidFill>
                  <a:srgbClr val="000000"/>
                </a:solidFill>
                <a:effectLst/>
                <a:latin typeface="Times New Roman" panose="02020603050405020304" pitchFamily="18" charset="0"/>
                <a:ea typeface="Times New Roman" panose="02020603050405020304" pitchFamily="18" charset="0"/>
              </a:rPr>
              <a:t> visual data, such as images or videos. It is widely used in various computer vision tasks, including image classification, object detection, and image segmentation.</a:t>
            </a:r>
          </a:p>
          <a:p>
            <a:pPr marL="539750" marR="128270" indent="0" algn="just">
              <a:lnSpc>
                <a:spcPct val="170000"/>
              </a:lnSpc>
              <a:spcBef>
                <a:spcPts val="25"/>
              </a:spcBef>
              <a:spcAft>
                <a:spcPts val="25"/>
              </a:spcAft>
              <a:buNone/>
            </a:pPr>
            <a:r>
              <a:rPr lang="en-IN" sz="8000" dirty="0">
                <a:solidFill>
                  <a:srgbClr val="000000"/>
                </a:solidFill>
                <a:effectLst/>
                <a:latin typeface="Times New Roman" panose="02020603050405020304" pitchFamily="18" charset="0"/>
                <a:ea typeface="Times New Roman" panose="02020603050405020304" pitchFamily="18" charset="0"/>
              </a:rPr>
              <a:t>	The main components of a CNN algorithm include convolutional layers, pooling layers, fully connected layers, and activation functions. </a:t>
            </a:r>
          </a:p>
          <a:p>
            <a:pPr marL="539750" marR="128270" indent="0" algn="just">
              <a:lnSpc>
                <a:spcPct val="115000"/>
              </a:lnSpc>
              <a:spcAft>
                <a:spcPts val="25"/>
              </a:spcAft>
              <a:buNone/>
            </a:pPr>
            <a:r>
              <a:rPr lang="en-IN" sz="8000" b="1" dirty="0">
                <a:solidFill>
                  <a:srgbClr val="000000"/>
                </a:solidFill>
                <a:effectLst/>
                <a:latin typeface="Times New Roman" panose="02020603050405020304" pitchFamily="18" charset="0"/>
                <a:ea typeface="Times New Roman" panose="02020603050405020304" pitchFamily="18" charset="0"/>
              </a:rPr>
              <a:t>Convolutional Layers</a:t>
            </a:r>
            <a:r>
              <a:rPr lang="en-IN" sz="8000" dirty="0">
                <a:solidFill>
                  <a:srgbClr val="000000"/>
                </a:solidFill>
                <a:effectLst/>
                <a:latin typeface="Times New Roman" panose="02020603050405020304" pitchFamily="18" charset="0"/>
                <a:ea typeface="Times New Roman" panose="02020603050405020304" pitchFamily="18" charset="0"/>
              </a:rPr>
              <a:t>: </a:t>
            </a:r>
          </a:p>
          <a:p>
            <a:pPr marL="1682750" marR="128270" indent="-1143000" algn="just">
              <a:lnSpc>
                <a:spcPct val="170000"/>
              </a:lnSpc>
              <a:spcAft>
                <a:spcPts val="25"/>
              </a:spcAft>
            </a:pPr>
            <a:r>
              <a:rPr lang="en-IN" sz="8000" dirty="0">
                <a:solidFill>
                  <a:srgbClr val="000000"/>
                </a:solidFill>
                <a:effectLst/>
                <a:latin typeface="Times New Roman" panose="02020603050405020304" pitchFamily="18" charset="0"/>
                <a:ea typeface="Times New Roman" panose="02020603050405020304" pitchFamily="18" charset="0"/>
              </a:rPr>
              <a:t>This layer is the first layer that is used to extract the various feature from the input images. In this layer, the mathematical operation of convolution is performed between the </a:t>
            </a:r>
            <a:r>
              <a:rPr lang="en-IN" sz="8000" dirty="0">
                <a:solidFill>
                  <a:srgbClr val="000000"/>
                </a:solidFill>
                <a:latin typeface="Times New Roman" panose="02020603050405020304" pitchFamily="18" charset="0"/>
                <a:ea typeface="Times New Roman" panose="02020603050405020304" pitchFamily="18" charset="0"/>
              </a:rPr>
              <a:t>input image and filter of a particular size of </a:t>
            </a:r>
            <a:r>
              <a:rPr lang="en-IN" sz="8000" dirty="0" err="1">
                <a:solidFill>
                  <a:srgbClr val="000000"/>
                </a:solidFill>
                <a:latin typeface="Times New Roman" panose="02020603050405020304" pitchFamily="18" charset="0"/>
                <a:ea typeface="Times New Roman" panose="02020603050405020304" pitchFamily="18" charset="0"/>
              </a:rPr>
              <a:t>MxM</a:t>
            </a:r>
            <a:r>
              <a:rPr lang="en-IN" sz="8000" dirty="0">
                <a:solidFill>
                  <a:srgbClr val="000000"/>
                </a:solidFill>
                <a:latin typeface="Times New Roman" panose="02020603050405020304" pitchFamily="18" charset="0"/>
                <a:ea typeface="Times New Roman" panose="02020603050405020304" pitchFamily="18" charset="0"/>
              </a:rPr>
              <a:t>. By sliding the filter over the input image, the dot product is taken between the filter and the parts of the</a:t>
            </a:r>
          </a:p>
        </p:txBody>
      </p:sp>
    </p:spTree>
    <p:extLst>
      <p:ext uri="{BB962C8B-B14F-4D97-AF65-F5344CB8AC3E}">
        <p14:creationId xmlns:p14="http://schemas.microsoft.com/office/powerpoint/2010/main" val="2199467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549297-54FB-8B8C-8F87-CD4E10659640}"/>
              </a:ext>
            </a:extLst>
          </p:cNvPr>
          <p:cNvSpPr>
            <a:spLocks noGrp="1"/>
          </p:cNvSpPr>
          <p:nvPr>
            <p:ph idx="1"/>
          </p:nvPr>
        </p:nvSpPr>
        <p:spPr>
          <a:xfrm>
            <a:off x="1157642" y="920339"/>
            <a:ext cx="10084099" cy="5786438"/>
          </a:xfrm>
        </p:spPr>
        <p:txBody>
          <a:bodyPr>
            <a:normAutofit/>
          </a:bodyPr>
          <a:lstStyle/>
          <a:p>
            <a:pPr marL="539750" marR="128270" indent="0" algn="just">
              <a:lnSpc>
                <a:spcPct val="150000"/>
              </a:lnSpc>
              <a:spcAft>
                <a:spcPts val="25"/>
              </a:spcAft>
              <a:buNone/>
            </a:pPr>
            <a:r>
              <a:rPr lang="en-IN" sz="2000" b="1" dirty="0">
                <a:solidFill>
                  <a:srgbClr val="000000"/>
                </a:solidFill>
                <a:effectLst/>
                <a:latin typeface="Times New Roman" panose="02020603050405020304" pitchFamily="18" charset="0"/>
                <a:ea typeface="Times New Roman" panose="02020603050405020304" pitchFamily="18" charset="0"/>
              </a:rPr>
              <a:t>      </a:t>
            </a:r>
            <a:r>
              <a:rPr lang="en-IN" sz="2000" dirty="0">
                <a:solidFill>
                  <a:srgbClr val="000000"/>
                </a:solidFill>
                <a:latin typeface="Times New Roman" panose="02020603050405020304" pitchFamily="18" charset="0"/>
                <a:ea typeface="Times New Roman" panose="02020603050405020304" pitchFamily="18" charset="0"/>
              </a:rPr>
              <a:t>input image with respect to the size of the filter.</a:t>
            </a:r>
            <a:endParaRPr lang="en-IN" sz="2000" b="1" dirty="0">
              <a:solidFill>
                <a:srgbClr val="000000"/>
              </a:solidFill>
              <a:effectLst/>
              <a:latin typeface="Times New Roman" panose="02020603050405020304" pitchFamily="18" charset="0"/>
              <a:ea typeface="Times New Roman" panose="02020603050405020304" pitchFamily="18" charset="0"/>
            </a:endParaRPr>
          </a:p>
          <a:p>
            <a:pPr marL="539750" marR="128270" indent="0" algn="just">
              <a:lnSpc>
                <a:spcPct val="150000"/>
              </a:lnSpc>
              <a:spcAft>
                <a:spcPts val="25"/>
              </a:spcAft>
              <a:buNone/>
            </a:pPr>
            <a:r>
              <a:rPr lang="en-IN" sz="2000" b="1" dirty="0">
                <a:solidFill>
                  <a:srgbClr val="000000"/>
                </a:solidFill>
                <a:effectLst/>
                <a:latin typeface="Times New Roman" panose="02020603050405020304" pitchFamily="18" charset="0"/>
                <a:ea typeface="Times New Roman" panose="02020603050405020304" pitchFamily="18" charset="0"/>
              </a:rPr>
              <a:t>Pooling Layers</a:t>
            </a:r>
            <a:r>
              <a:rPr lang="en-IN" sz="2000" dirty="0">
                <a:solidFill>
                  <a:srgbClr val="000000"/>
                </a:solidFill>
                <a:effectLst/>
                <a:latin typeface="Times New Roman" panose="02020603050405020304" pitchFamily="18" charset="0"/>
                <a:ea typeface="Times New Roman" panose="02020603050405020304" pitchFamily="18" charset="0"/>
              </a:rPr>
              <a:t>: </a:t>
            </a:r>
          </a:p>
          <a:p>
            <a:pPr marL="882650" marR="128270" algn="just">
              <a:lnSpc>
                <a:spcPct val="150000"/>
              </a:lnSpc>
              <a:spcAft>
                <a:spcPts val="25"/>
              </a:spcAft>
            </a:pPr>
            <a:r>
              <a:rPr lang="en-IN" sz="2000" dirty="0">
                <a:solidFill>
                  <a:srgbClr val="000000"/>
                </a:solidFill>
                <a:effectLst/>
                <a:latin typeface="Times New Roman" panose="02020603050405020304" pitchFamily="18" charset="0"/>
                <a:ea typeface="Times New Roman" panose="02020603050405020304" pitchFamily="18" charset="0"/>
              </a:rPr>
              <a:t>The Second layer is the pooling layer. In most cases, a convolutional layer is followed by a pooling layer. The primary aim of this layer is to decrease the size of the convolved feature map to reduce computational costs. This is perfor</a:t>
            </a:r>
            <a:r>
              <a:rPr lang="en-IN" sz="2000" dirty="0">
                <a:solidFill>
                  <a:srgbClr val="000000"/>
                </a:solidFill>
                <a:latin typeface="Times New Roman" panose="02020603050405020304" pitchFamily="18" charset="0"/>
                <a:ea typeface="Times New Roman" panose="02020603050405020304" pitchFamily="18" charset="0"/>
              </a:rPr>
              <a:t>med by decreasing the connections between layers and independently operates on each feature map.</a:t>
            </a:r>
            <a:endParaRPr lang="en-IN" sz="2000" dirty="0">
              <a:solidFill>
                <a:srgbClr val="000000"/>
              </a:solidFill>
              <a:effectLst/>
              <a:latin typeface="Times New Roman" panose="02020603050405020304" pitchFamily="18" charset="0"/>
              <a:ea typeface="Times New Roman" panose="02020603050405020304" pitchFamily="18" charset="0"/>
            </a:endParaRPr>
          </a:p>
          <a:p>
            <a:pPr marL="533400" marR="128270" indent="0" algn="just">
              <a:lnSpc>
                <a:spcPct val="150000"/>
              </a:lnSpc>
              <a:spcAft>
                <a:spcPts val="25"/>
              </a:spcAft>
              <a:buNone/>
            </a:pPr>
            <a:r>
              <a:rPr lang="en-IN" sz="2000" b="1" dirty="0">
                <a:solidFill>
                  <a:srgbClr val="000000"/>
                </a:solidFill>
                <a:effectLst/>
                <a:latin typeface="Times New Roman" panose="02020603050405020304" pitchFamily="18" charset="0"/>
                <a:ea typeface="Times New Roman" panose="02020603050405020304" pitchFamily="18" charset="0"/>
              </a:rPr>
              <a:t>Fully Connected Layers</a:t>
            </a:r>
            <a:r>
              <a:rPr lang="en-IN" sz="2000" dirty="0">
                <a:solidFill>
                  <a:srgbClr val="000000"/>
                </a:solidFill>
                <a:effectLst/>
                <a:latin typeface="Times New Roman" panose="02020603050405020304" pitchFamily="18" charset="0"/>
                <a:ea typeface="Times New Roman" panose="02020603050405020304" pitchFamily="18" charset="0"/>
              </a:rPr>
              <a:t>:</a:t>
            </a:r>
          </a:p>
          <a:p>
            <a:pPr marL="876300" marR="128270" algn="just">
              <a:lnSpc>
                <a:spcPct val="150000"/>
              </a:lnSpc>
              <a:spcAft>
                <a:spcPts val="25"/>
              </a:spcAft>
            </a:pPr>
            <a:r>
              <a:rPr lang="en-IN" sz="2000" dirty="0">
                <a:solidFill>
                  <a:srgbClr val="000000"/>
                </a:solidFill>
                <a:latin typeface="Times New Roman" panose="02020603050405020304" pitchFamily="18" charset="0"/>
                <a:ea typeface="Times New Roman" panose="02020603050405020304" pitchFamily="18" charset="0"/>
              </a:rPr>
              <a:t>The Third layer Fully Connected (FC) layer consists of the weights and biases along with the neurons and is used to connect the neurons between two different layers. These layers are usually placed before the output layer and from the last few layers of a CNN Architecture.</a:t>
            </a:r>
            <a:endParaRPr lang="en-IN" sz="2000" dirty="0">
              <a:solidFill>
                <a:srgbClr val="000000"/>
              </a:solidFill>
              <a:effectLst/>
              <a:latin typeface="Times New Roman" panose="02020603050405020304" pitchFamily="18" charset="0"/>
              <a:ea typeface="Times New Roman" panose="02020603050405020304" pitchFamily="18" charset="0"/>
            </a:endParaRP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21312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41DE44-9005-8952-3579-612DC3248F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5658" y="1272241"/>
            <a:ext cx="8465790" cy="4653034"/>
          </a:xfrm>
        </p:spPr>
      </p:pic>
    </p:spTree>
    <p:extLst>
      <p:ext uri="{BB962C8B-B14F-4D97-AF65-F5344CB8AC3E}">
        <p14:creationId xmlns:p14="http://schemas.microsoft.com/office/powerpoint/2010/main" val="1766712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292EA-5E61-10B3-660C-5987AAF18090}"/>
              </a:ext>
            </a:extLst>
          </p:cNvPr>
          <p:cNvSpPr>
            <a:spLocks noGrp="1"/>
          </p:cNvSpPr>
          <p:nvPr>
            <p:ph type="title"/>
          </p:nvPr>
        </p:nvSpPr>
        <p:spPr>
          <a:xfrm>
            <a:off x="1640156" y="718240"/>
            <a:ext cx="8911687" cy="734042"/>
          </a:xfrm>
        </p:spPr>
        <p:txBody>
          <a:bodyPr>
            <a:normAutofit/>
          </a:bodyPr>
          <a:lstStyle/>
          <a:p>
            <a:pPr algn="ctr"/>
            <a:r>
              <a:rPr lang="en-IN" sz="2800" b="1"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E17EDFAE-6407-AB61-A533-617CE1293124}"/>
              </a:ext>
            </a:extLst>
          </p:cNvPr>
          <p:cNvSpPr>
            <a:spLocks noGrp="1"/>
          </p:cNvSpPr>
          <p:nvPr>
            <p:ph idx="1"/>
          </p:nvPr>
        </p:nvSpPr>
        <p:spPr>
          <a:xfrm>
            <a:off x="1519132" y="1673131"/>
            <a:ext cx="9592620" cy="4216680"/>
          </a:xfrm>
        </p:spPr>
        <p:txBody>
          <a:bodyPr>
            <a:normAutofit/>
          </a:bodyPr>
          <a:lstStyle/>
          <a:p>
            <a:pPr algn="just">
              <a:lnSpc>
                <a:spcPct val="150000"/>
              </a:lnSpc>
              <a:spcBef>
                <a:spcPts val="0"/>
              </a:spcBef>
            </a:pPr>
            <a:r>
              <a:rPr lang="en-IN" sz="2000" b="0" i="0" dirty="0">
                <a:solidFill>
                  <a:srgbClr val="0D0D0D"/>
                </a:solidFill>
                <a:effectLst/>
                <a:latin typeface="Times New Roman" panose="02020603050405020304" pitchFamily="18" charset="0"/>
                <a:cs typeface="Times New Roman" panose="02020603050405020304" pitchFamily="18" charset="0"/>
              </a:rPr>
              <a:t>The system should pre process MRI scans to enhance quality and remove artifacts, employing techniques like noise reduction, contrast enhancement, and normalization.</a:t>
            </a:r>
          </a:p>
          <a:p>
            <a:pPr algn="just">
              <a:lnSpc>
                <a:spcPct val="150000"/>
              </a:lnSpc>
              <a:spcBef>
                <a:spcPts val="0"/>
              </a:spcBef>
            </a:pPr>
            <a:r>
              <a:rPr lang="en-IN" sz="2000" b="0" i="0" dirty="0">
                <a:solidFill>
                  <a:srgbClr val="0D0D0D"/>
                </a:solidFill>
                <a:effectLst/>
                <a:latin typeface="Times New Roman" panose="02020603050405020304" pitchFamily="18" charset="0"/>
                <a:cs typeface="Times New Roman" panose="02020603050405020304" pitchFamily="18" charset="0"/>
              </a:rPr>
              <a:t>It must extract relevant features from pre processed images using algorithms like wavelet transform, histogram analysis, or region-based methods to capture tumour-specific characteristics.</a:t>
            </a:r>
          </a:p>
          <a:p>
            <a:pPr algn="just">
              <a:lnSpc>
                <a:spcPct val="150000"/>
              </a:lnSpc>
              <a:spcBef>
                <a:spcPts val="0"/>
              </a:spcBef>
            </a:pPr>
            <a:r>
              <a:rPr lang="en-IN" sz="2000" b="0" i="0" dirty="0">
                <a:solidFill>
                  <a:srgbClr val="0D0D0D"/>
                </a:solidFill>
                <a:effectLst/>
                <a:latin typeface="Times New Roman" panose="02020603050405020304" pitchFamily="18" charset="0"/>
                <a:cs typeface="Times New Roman" panose="02020603050405020304" pitchFamily="18" charset="0"/>
              </a:rPr>
              <a:t>Provide an intuitive user interface for healthcare professionals to upload MRI scans, initiate the detection process, and view the results, ensuring ease of use and accessibility in clinical settings.</a:t>
            </a:r>
          </a:p>
        </p:txBody>
      </p:sp>
    </p:spTree>
    <p:extLst>
      <p:ext uri="{BB962C8B-B14F-4D97-AF65-F5344CB8AC3E}">
        <p14:creationId xmlns:p14="http://schemas.microsoft.com/office/powerpoint/2010/main" val="3729404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81411-9878-021C-C267-542BC0D282FB}"/>
              </a:ext>
            </a:extLst>
          </p:cNvPr>
          <p:cNvSpPr>
            <a:spLocks noGrp="1"/>
          </p:cNvSpPr>
          <p:nvPr>
            <p:ph type="title"/>
          </p:nvPr>
        </p:nvSpPr>
        <p:spPr>
          <a:xfrm>
            <a:off x="1640156" y="747384"/>
            <a:ext cx="8911687" cy="632724"/>
          </a:xfrm>
        </p:spPr>
        <p:txBody>
          <a:bodyPr>
            <a:normAutofit/>
          </a:bodyPr>
          <a:lstStyle/>
          <a:p>
            <a:pPr algn="ctr"/>
            <a:r>
              <a:rPr lang="en-IN" sz="2800" b="1" dirty="0">
                <a:latin typeface="Times New Roman" panose="02020603050405020304" pitchFamily="18" charset="0"/>
                <a:cs typeface="Times New Roman" panose="02020603050405020304" pitchFamily="18" charset="0"/>
              </a:rPr>
              <a:t> NON-FUNCTIONAL REQUIREMENTS</a:t>
            </a:r>
          </a:p>
        </p:txBody>
      </p:sp>
      <p:sp>
        <p:nvSpPr>
          <p:cNvPr id="3" name="Content Placeholder 2">
            <a:extLst>
              <a:ext uri="{FF2B5EF4-FFF2-40B4-BE49-F238E27FC236}">
                <a16:creationId xmlns:a16="http://schemas.microsoft.com/office/drawing/2014/main" id="{F1488833-5903-E17A-38D6-43491515DC67}"/>
              </a:ext>
            </a:extLst>
          </p:cNvPr>
          <p:cNvSpPr>
            <a:spLocks noGrp="1"/>
          </p:cNvSpPr>
          <p:nvPr>
            <p:ph idx="1"/>
          </p:nvPr>
        </p:nvSpPr>
        <p:spPr>
          <a:xfrm>
            <a:off x="1464907" y="1650001"/>
            <a:ext cx="9423918" cy="4321591"/>
          </a:xfrm>
        </p:spPr>
        <p:txBody>
          <a:bodyPr>
            <a:normAutofit/>
          </a:bodyPr>
          <a:lstStyle/>
          <a:p>
            <a:pPr algn="just">
              <a:lnSpc>
                <a:spcPct val="150000"/>
              </a:lnSpc>
              <a:spcBef>
                <a:spcPts val="0"/>
              </a:spcBef>
            </a:pPr>
            <a:r>
              <a:rPr lang="en-IN" sz="2000" b="1" i="0" dirty="0">
                <a:effectLst/>
                <a:latin typeface="Times New Roman" panose="02020603050405020304" pitchFamily="18" charset="0"/>
                <a:cs typeface="Times New Roman" panose="02020603050405020304" pitchFamily="18" charset="0"/>
              </a:rPr>
              <a:t>Scalability</a:t>
            </a:r>
            <a:r>
              <a:rPr lang="en-IN" sz="2000" b="0" i="0" dirty="0">
                <a:effectLst/>
                <a:latin typeface="Times New Roman" panose="02020603050405020304" pitchFamily="18" charset="0"/>
                <a:cs typeface="Times New Roman" panose="02020603050405020304" pitchFamily="18" charset="0"/>
              </a:rPr>
              <a:t>:</a:t>
            </a:r>
            <a:r>
              <a:rPr lang="en-US" sz="2000" b="0" i="0" dirty="0">
                <a:effectLst/>
                <a:latin typeface="Times New Roman" panose="02020603050405020304" pitchFamily="18" charset="0"/>
                <a:cs typeface="Times New Roman" panose="02020603050405020304" pitchFamily="18" charset="0"/>
              </a:rPr>
              <a:t> The system should efficiently handle large volumes of  data, recommendations</a:t>
            </a:r>
          </a:p>
          <a:p>
            <a:pPr algn="just">
              <a:lnSpc>
                <a:spcPct val="150000"/>
              </a:lnSpc>
              <a:spcBef>
                <a:spcPts val="0"/>
              </a:spcBef>
            </a:pPr>
            <a:r>
              <a:rPr lang="en-IN" sz="2000" b="1" i="0" dirty="0">
                <a:effectLst/>
                <a:latin typeface="Times New Roman" panose="02020603050405020304" pitchFamily="18" charset="0"/>
                <a:cs typeface="Times New Roman" panose="02020603050405020304" pitchFamily="18" charset="0"/>
              </a:rPr>
              <a:t>Reliability</a:t>
            </a:r>
            <a:r>
              <a:rPr lang="en-IN" sz="2000" b="0" i="0" dirty="0">
                <a:effectLst/>
                <a:latin typeface="Times New Roman" panose="02020603050405020304" pitchFamily="18" charset="0"/>
                <a:cs typeface="Times New Roman" panose="02020603050405020304" pitchFamily="18" charset="0"/>
              </a:rPr>
              <a:t>:</a:t>
            </a:r>
            <a:r>
              <a:rPr lang="en-US" sz="2000" b="0" i="0" dirty="0">
                <a:effectLst/>
                <a:latin typeface="Times New Roman" panose="02020603050405020304" pitchFamily="18" charset="0"/>
                <a:cs typeface="Times New Roman" panose="02020603050405020304" pitchFamily="18" charset="0"/>
              </a:rPr>
              <a:t> The system should be available for </a:t>
            </a:r>
            <a:r>
              <a:rPr lang="en-IN" sz="2000" b="0" i="0" dirty="0">
                <a:effectLst/>
                <a:latin typeface="Times New Roman" panose="02020603050405020304" pitchFamily="18" charset="0"/>
                <a:cs typeface="Times New Roman" panose="02020603050405020304" pitchFamily="18" charset="0"/>
              </a:rPr>
              <a:t>minimal downtime.</a:t>
            </a:r>
            <a:endParaRPr lang="en-US" sz="2000" dirty="0">
              <a:latin typeface="Times New Roman" panose="02020603050405020304" pitchFamily="18" charset="0"/>
              <a:cs typeface="Times New Roman" panose="02020603050405020304" pitchFamily="18" charset="0"/>
            </a:endParaRPr>
          </a:p>
          <a:p>
            <a:pPr algn="just">
              <a:lnSpc>
                <a:spcPct val="150000"/>
              </a:lnSpc>
              <a:spcBef>
                <a:spcPts val="0"/>
              </a:spcBef>
            </a:pPr>
            <a:r>
              <a:rPr lang="en-IN" sz="2000" b="1" i="0" dirty="0">
                <a:effectLst/>
                <a:latin typeface="Times New Roman" panose="02020603050405020304" pitchFamily="18" charset="0"/>
                <a:cs typeface="Times New Roman" panose="02020603050405020304" pitchFamily="18" charset="0"/>
              </a:rPr>
              <a:t>Security</a:t>
            </a:r>
            <a:r>
              <a:rPr lang="en-IN" sz="2000" b="0" i="0" dirty="0">
                <a:effectLst/>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It provides better security for the data.</a:t>
            </a:r>
            <a:endParaRPr lang="en-US" sz="2000" b="0" i="0" dirty="0">
              <a:effectLst/>
              <a:latin typeface="Times New Roman" panose="02020603050405020304" pitchFamily="18" charset="0"/>
              <a:cs typeface="Times New Roman" panose="02020603050405020304" pitchFamily="18" charset="0"/>
            </a:endParaRPr>
          </a:p>
          <a:p>
            <a:pPr algn="just">
              <a:lnSpc>
                <a:spcPct val="150000"/>
              </a:lnSpc>
              <a:spcBef>
                <a:spcPts val="0"/>
              </a:spcBef>
            </a:pPr>
            <a:r>
              <a:rPr lang="en-IN" sz="2000" b="1" i="0" dirty="0">
                <a:effectLst/>
                <a:latin typeface="Times New Roman" panose="02020603050405020304" pitchFamily="18" charset="0"/>
                <a:cs typeface="Times New Roman" panose="02020603050405020304" pitchFamily="18" charset="0"/>
              </a:rPr>
              <a:t>Usability</a:t>
            </a:r>
            <a:r>
              <a:rPr lang="en-IN" sz="2000" b="0" i="0" dirty="0">
                <a:effectLst/>
                <a:latin typeface="Times New Roman" panose="02020603050405020304" pitchFamily="18" charset="0"/>
                <a:cs typeface="Times New Roman" panose="02020603050405020304" pitchFamily="18" charset="0"/>
              </a:rPr>
              <a:t>:</a:t>
            </a:r>
            <a:r>
              <a:rPr lang="en-US" sz="2000" b="0" i="0" dirty="0">
                <a:effectLst/>
                <a:latin typeface="Times New Roman" panose="02020603050405020304" pitchFamily="18" charset="0"/>
                <a:cs typeface="Times New Roman" panose="02020603050405020304" pitchFamily="18" charset="0"/>
              </a:rPr>
              <a:t> The system should be accessible to users with disabilities, complying with relevant accessibility standards.</a:t>
            </a:r>
          </a:p>
          <a:p>
            <a:pPr algn="just">
              <a:lnSpc>
                <a:spcPct val="150000"/>
              </a:lnSpc>
              <a:spcBef>
                <a:spcPts val="0"/>
              </a:spcBef>
            </a:pPr>
            <a:r>
              <a:rPr lang="en-IN" sz="2000" b="1" i="0" dirty="0">
                <a:effectLst/>
                <a:latin typeface="Times New Roman" panose="02020603050405020304" pitchFamily="18" charset="0"/>
                <a:cs typeface="Times New Roman" panose="02020603050405020304" pitchFamily="18" charset="0"/>
              </a:rPr>
              <a:t>Maintainability</a:t>
            </a:r>
            <a:r>
              <a:rPr lang="en-IN" sz="2000" b="0" i="0" dirty="0">
                <a:effectLst/>
                <a:latin typeface="Times New Roman" panose="02020603050405020304" pitchFamily="18" charset="0"/>
                <a:cs typeface="Times New Roman" panose="02020603050405020304" pitchFamily="18" charset="0"/>
              </a:rPr>
              <a:t>:</a:t>
            </a:r>
            <a:r>
              <a:rPr lang="en-US" sz="2000" b="0" i="0" dirty="0">
                <a:effectLst/>
                <a:latin typeface="Times New Roman" panose="02020603050405020304" pitchFamily="18" charset="0"/>
                <a:cs typeface="Times New Roman" panose="02020603050405020304" pitchFamily="18" charset="0"/>
              </a:rPr>
              <a:t> The system should be modular and well-structured, allowing for easy maintenance</a:t>
            </a:r>
            <a:r>
              <a:rPr lang="en-US" sz="2000" dirty="0">
                <a:latin typeface="Times New Roman" panose="02020603050405020304" pitchFamily="18" charset="0"/>
                <a:cs typeface="Times New Roman" panose="02020603050405020304" pitchFamily="18" charset="0"/>
              </a:rPr>
              <a:t>.</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1590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C6CA-7333-F64A-93DE-14EA3F56F5E5}"/>
              </a:ext>
            </a:extLst>
          </p:cNvPr>
          <p:cNvSpPr>
            <a:spLocks noGrp="1"/>
          </p:cNvSpPr>
          <p:nvPr>
            <p:ph type="title"/>
          </p:nvPr>
        </p:nvSpPr>
        <p:spPr>
          <a:xfrm>
            <a:off x="754797" y="790344"/>
            <a:ext cx="10515600" cy="1325563"/>
          </a:xfrm>
        </p:spPr>
        <p:txBody>
          <a:bodyPr>
            <a:normAutofit/>
          </a:bodyPr>
          <a:lstStyle/>
          <a:p>
            <a:pPr marL="76200">
              <a:spcBef>
                <a:spcPts val="745"/>
              </a:spcBef>
            </a:pPr>
            <a:r>
              <a:rPr lang="en-US" sz="2800" b="1" kern="0" dirty="0">
                <a:effectLst/>
                <a:latin typeface="Times New Roman" panose="02020603050405020304" pitchFamily="18" charset="0"/>
                <a:ea typeface="Times New Roman" panose="02020603050405020304" pitchFamily="18" charset="0"/>
              </a:rPr>
              <a:t>                  SYSTEM REQUIREMENT</a:t>
            </a:r>
            <a:r>
              <a:rPr lang="en-US" sz="2800" b="1" kern="0" spc="-35" dirty="0">
                <a:effectLst/>
                <a:latin typeface="Times New Roman" panose="02020603050405020304" pitchFamily="18" charset="0"/>
                <a:ea typeface="Times New Roman" panose="02020603050405020304" pitchFamily="18" charset="0"/>
              </a:rPr>
              <a:t> </a:t>
            </a:r>
            <a:r>
              <a:rPr lang="en-US" sz="2800" b="1" kern="0" spc="-10" dirty="0">
                <a:effectLst/>
                <a:latin typeface="Times New Roman" panose="02020603050405020304" pitchFamily="18" charset="0"/>
                <a:ea typeface="Times New Roman" panose="02020603050405020304" pitchFamily="18" charset="0"/>
              </a:rPr>
              <a:t>SPECIFICATIONS</a:t>
            </a:r>
            <a:endParaRPr lang="en-IN" sz="2800" b="1" kern="0"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394EC166-9758-387F-156E-9A8FAEC27F9E}"/>
              </a:ext>
            </a:extLst>
          </p:cNvPr>
          <p:cNvSpPr>
            <a:spLocks noGrp="1"/>
          </p:cNvSpPr>
          <p:nvPr>
            <p:ph idx="1"/>
          </p:nvPr>
        </p:nvSpPr>
        <p:spPr>
          <a:xfrm>
            <a:off x="2468880" y="1747520"/>
            <a:ext cx="8708211" cy="4927600"/>
          </a:xfrm>
        </p:spPr>
        <p:txBody>
          <a:bodyPr>
            <a:normAutofit/>
          </a:bodyPr>
          <a:lstStyle/>
          <a:p>
            <a:pPr>
              <a:spcBef>
                <a:spcPts val="795"/>
              </a:spcBef>
            </a:pPr>
            <a:r>
              <a:rPr lang="en-US" sz="2400" b="1" dirty="0">
                <a:effectLst/>
                <a:latin typeface="Times New Roman" panose="02020603050405020304" pitchFamily="18" charset="0"/>
                <a:ea typeface="Times New Roman" panose="02020603050405020304" pitchFamily="18" charset="0"/>
              </a:rPr>
              <a:t>Software</a:t>
            </a:r>
            <a:r>
              <a:rPr lang="en-US" sz="2400" b="1" spc="-55" dirty="0">
                <a:effectLst/>
                <a:latin typeface="Times New Roman" panose="02020603050405020304" pitchFamily="18" charset="0"/>
                <a:ea typeface="Times New Roman" panose="02020603050405020304" pitchFamily="18" charset="0"/>
              </a:rPr>
              <a:t> </a:t>
            </a:r>
            <a:r>
              <a:rPr lang="en-US" sz="2400" b="1" spc="-10" dirty="0">
                <a:effectLst/>
                <a:latin typeface="Times New Roman" panose="02020603050405020304" pitchFamily="18" charset="0"/>
                <a:ea typeface="Times New Roman" panose="02020603050405020304" pitchFamily="18" charset="0"/>
              </a:rPr>
              <a:t>Requirements:</a:t>
            </a:r>
            <a:endParaRPr lang="en-IN" sz="2400" dirty="0">
              <a:effectLst/>
              <a:latin typeface="Times New Roman" panose="02020603050405020304" pitchFamily="18" charset="0"/>
              <a:ea typeface="Times New Roman" panose="02020603050405020304" pitchFamily="18" charset="0"/>
            </a:endParaRPr>
          </a:p>
          <a:p>
            <a:pPr marL="0" lvl="0" indent="0">
              <a:spcBef>
                <a:spcPts val="1035"/>
              </a:spcBef>
              <a:buSzPts val="1200"/>
              <a:buNone/>
              <a:tabLst>
                <a:tab pos="596900" algn="l"/>
                <a:tab pos="2884170" algn="l"/>
                <a:tab pos="3341370" algn="l"/>
              </a:tabLst>
            </a:pPr>
            <a:r>
              <a:rPr lang="en-US" sz="2000" spc="0" dirty="0">
                <a:effectLst/>
                <a:latin typeface="Times New Roman" panose="02020603050405020304" pitchFamily="18" charset="0"/>
                <a:ea typeface="Symbol" pitchFamily="2" charset="2"/>
                <a:cs typeface="Symbol" pitchFamily="2" charset="2"/>
              </a:rPr>
              <a:t>      Operating</a:t>
            </a:r>
            <a:r>
              <a:rPr lang="en-US" sz="2000" spc="-55" dirty="0">
                <a:effectLst/>
                <a:latin typeface="Times New Roman" panose="02020603050405020304" pitchFamily="18" charset="0"/>
                <a:ea typeface="Symbol" pitchFamily="2" charset="2"/>
                <a:cs typeface="Symbol" pitchFamily="2" charset="2"/>
              </a:rPr>
              <a:t> </a:t>
            </a:r>
            <a:r>
              <a:rPr lang="en-US" sz="2000" spc="-10" dirty="0">
                <a:effectLst/>
                <a:latin typeface="Times New Roman" panose="02020603050405020304" pitchFamily="18" charset="0"/>
                <a:ea typeface="Symbol" pitchFamily="2" charset="2"/>
                <a:cs typeface="Symbol" pitchFamily="2" charset="2"/>
              </a:rPr>
              <a:t>System</a:t>
            </a:r>
            <a:r>
              <a:rPr lang="en-US" sz="2000" spc="0" dirty="0">
                <a:effectLst/>
                <a:latin typeface="Times New Roman" panose="02020603050405020304" pitchFamily="18" charset="0"/>
                <a:ea typeface="Symbol" pitchFamily="2" charset="2"/>
                <a:cs typeface="Symbol" pitchFamily="2" charset="2"/>
              </a:rPr>
              <a:t>	</a:t>
            </a:r>
            <a:r>
              <a:rPr lang="en-US" sz="2000" spc="-50" dirty="0">
                <a:effectLst/>
                <a:latin typeface="Times New Roman" panose="02020603050405020304" pitchFamily="18" charset="0"/>
                <a:ea typeface="Symbol" pitchFamily="2" charset="2"/>
                <a:cs typeface="Symbol" pitchFamily="2" charset="2"/>
              </a:rPr>
              <a:t>:</a:t>
            </a:r>
            <a:r>
              <a:rPr lang="en-US" sz="2000" spc="0" dirty="0">
                <a:effectLst/>
                <a:latin typeface="Times New Roman" panose="02020603050405020304" pitchFamily="18" charset="0"/>
                <a:ea typeface="Symbol" pitchFamily="2" charset="2"/>
                <a:cs typeface="Symbol" pitchFamily="2" charset="2"/>
              </a:rPr>
              <a:t>	</a:t>
            </a:r>
            <a:r>
              <a:rPr lang="en-US" sz="2000" spc="-10" dirty="0">
                <a:effectLst/>
                <a:latin typeface="Times New Roman" panose="02020603050405020304" pitchFamily="18" charset="0"/>
                <a:ea typeface="Symbol" pitchFamily="2" charset="2"/>
                <a:cs typeface="Symbol" pitchFamily="2" charset="2"/>
              </a:rPr>
              <a:t>Windows</a:t>
            </a:r>
            <a:r>
              <a:rPr lang="en-US" sz="2000" spc="-20" dirty="0">
                <a:effectLst/>
                <a:latin typeface="Times New Roman" panose="02020603050405020304" pitchFamily="18" charset="0"/>
                <a:ea typeface="Symbol" pitchFamily="2" charset="2"/>
                <a:cs typeface="Symbol" pitchFamily="2" charset="2"/>
              </a:rPr>
              <a:t> </a:t>
            </a:r>
            <a:r>
              <a:rPr lang="en-US" sz="2000" spc="-25" dirty="0">
                <a:effectLst/>
                <a:latin typeface="Times New Roman" panose="02020603050405020304" pitchFamily="18" charset="0"/>
                <a:ea typeface="Symbol" pitchFamily="2" charset="2"/>
                <a:cs typeface="Symbol" pitchFamily="2" charset="2"/>
              </a:rPr>
              <a:t>11</a:t>
            </a:r>
            <a:endParaRPr lang="en-IN" sz="2000" spc="0" dirty="0">
              <a:effectLst/>
              <a:latin typeface="Times New Roman" panose="02020603050405020304" pitchFamily="18" charset="0"/>
              <a:ea typeface="Symbol" pitchFamily="2" charset="2"/>
              <a:cs typeface="Symbol" pitchFamily="2" charset="2"/>
            </a:endParaRPr>
          </a:p>
          <a:p>
            <a:pPr marL="0" lvl="0" indent="0">
              <a:spcBef>
                <a:spcPts val="205"/>
              </a:spcBef>
              <a:buSzPts val="1200"/>
              <a:buNone/>
              <a:tabLst>
                <a:tab pos="596900" algn="l"/>
                <a:tab pos="2884170" algn="l"/>
                <a:tab pos="3341370" algn="l"/>
              </a:tabLst>
            </a:pPr>
            <a:r>
              <a:rPr lang="en-US" sz="2000" spc="-10" dirty="0">
                <a:effectLst/>
                <a:latin typeface="Times New Roman" panose="02020603050405020304" pitchFamily="18" charset="0"/>
                <a:ea typeface="Symbol" pitchFamily="2" charset="2"/>
                <a:cs typeface="Symbol" pitchFamily="2" charset="2"/>
              </a:rPr>
              <a:t>      Domain</a:t>
            </a:r>
            <a:r>
              <a:rPr lang="en-US" sz="2000" spc="0" dirty="0">
                <a:effectLst/>
                <a:latin typeface="Times New Roman" panose="02020603050405020304" pitchFamily="18" charset="0"/>
                <a:ea typeface="Symbol" pitchFamily="2" charset="2"/>
                <a:cs typeface="Symbol" pitchFamily="2" charset="2"/>
              </a:rPr>
              <a:t>	</a:t>
            </a:r>
            <a:r>
              <a:rPr lang="en-US" sz="2000" spc="-50" dirty="0">
                <a:effectLst/>
                <a:latin typeface="Times New Roman" panose="02020603050405020304" pitchFamily="18" charset="0"/>
                <a:ea typeface="Symbol" pitchFamily="2" charset="2"/>
                <a:cs typeface="Symbol" pitchFamily="2" charset="2"/>
              </a:rPr>
              <a:t>:</a:t>
            </a:r>
            <a:r>
              <a:rPr lang="en-US" sz="2000" spc="0" dirty="0">
                <a:effectLst/>
                <a:latin typeface="Times New Roman" panose="02020603050405020304" pitchFamily="18" charset="0"/>
                <a:ea typeface="Symbol" pitchFamily="2" charset="2"/>
                <a:cs typeface="Symbol" pitchFamily="2" charset="2"/>
              </a:rPr>
              <a:t>	Machine</a:t>
            </a:r>
            <a:r>
              <a:rPr lang="en-US" sz="2000" spc="-70" dirty="0">
                <a:effectLst/>
                <a:latin typeface="Times New Roman" panose="02020603050405020304" pitchFamily="18" charset="0"/>
                <a:ea typeface="Symbol" pitchFamily="2" charset="2"/>
                <a:cs typeface="Symbol" pitchFamily="2" charset="2"/>
              </a:rPr>
              <a:t> </a:t>
            </a:r>
            <a:r>
              <a:rPr lang="en-US" sz="2000" spc="-10" dirty="0">
                <a:effectLst/>
                <a:latin typeface="Times New Roman" panose="02020603050405020304" pitchFamily="18" charset="0"/>
                <a:ea typeface="Symbol" pitchFamily="2" charset="2"/>
                <a:cs typeface="Symbol" pitchFamily="2" charset="2"/>
              </a:rPr>
              <a:t>Learning</a:t>
            </a:r>
            <a:endParaRPr lang="en-IN" sz="2000" dirty="0">
              <a:latin typeface="Times New Roman" panose="02020603050405020304" pitchFamily="18" charset="0"/>
              <a:ea typeface="Symbol" pitchFamily="2" charset="2"/>
              <a:cs typeface="Symbol" pitchFamily="2" charset="2"/>
            </a:endParaRPr>
          </a:p>
          <a:p>
            <a:pPr marL="0" lvl="0" indent="0">
              <a:spcBef>
                <a:spcPts val="205"/>
              </a:spcBef>
              <a:buSzPts val="1200"/>
              <a:buNone/>
              <a:tabLst>
                <a:tab pos="596900" algn="l"/>
                <a:tab pos="2884170" algn="l"/>
                <a:tab pos="3341370" algn="l"/>
              </a:tabLst>
            </a:pPr>
            <a:r>
              <a:rPr lang="en-IN" sz="2000" spc="-10" dirty="0">
                <a:effectLst/>
                <a:latin typeface="Times New Roman" panose="02020603050405020304" pitchFamily="18" charset="0"/>
                <a:ea typeface="Symbol" pitchFamily="2" charset="2"/>
                <a:cs typeface="Symbol" pitchFamily="2" charset="2"/>
              </a:rPr>
              <a:t>      </a:t>
            </a:r>
            <a:r>
              <a:rPr lang="en-US" sz="2000" spc="-10" dirty="0">
                <a:effectLst/>
                <a:latin typeface="Times New Roman" panose="02020603050405020304" pitchFamily="18" charset="0"/>
                <a:ea typeface="Symbol" pitchFamily="2" charset="2"/>
                <a:cs typeface="Symbol" pitchFamily="2" charset="2"/>
              </a:rPr>
              <a:t>Technologies</a:t>
            </a:r>
            <a:r>
              <a:rPr lang="en-US" sz="2000" spc="0" dirty="0">
                <a:effectLst/>
                <a:latin typeface="Times New Roman" panose="02020603050405020304" pitchFamily="18" charset="0"/>
                <a:ea typeface="Symbol" pitchFamily="2" charset="2"/>
                <a:cs typeface="Symbol" pitchFamily="2" charset="2"/>
              </a:rPr>
              <a:t>	</a:t>
            </a:r>
            <a:r>
              <a:rPr lang="en-US" sz="2000" spc="-50" dirty="0">
                <a:effectLst/>
                <a:latin typeface="Times New Roman" panose="02020603050405020304" pitchFamily="18" charset="0"/>
                <a:ea typeface="Symbol" pitchFamily="2" charset="2"/>
                <a:cs typeface="Symbol" pitchFamily="2" charset="2"/>
              </a:rPr>
              <a:t>:</a:t>
            </a:r>
            <a:r>
              <a:rPr lang="en-US" sz="2000" spc="0" dirty="0">
                <a:effectLst/>
                <a:latin typeface="Times New Roman" panose="02020603050405020304" pitchFamily="18" charset="0"/>
                <a:ea typeface="Symbol" pitchFamily="2" charset="2"/>
                <a:cs typeface="Symbol" pitchFamily="2" charset="2"/>
              </a:rPr>
              <a:t>	Python</a:t>
            </a:r>
            <a:r>
              <a:rPr lang="en-US" sz="2000" spc="-15" dirty="0">
                <a:effectLst/>
                <a:latin typeface="Times New Roman" panose="02020603050405020304" pitchFamily="18" charset="0"/>
                <a:ea typeface="Symbol" pitchFamily="2" charset="2"/>
                <a:cs typeface="Symbol" pitchFamily="2" charset="2"/>
              </a:rPr>
              <a:t> </a:t>
            </a:r>
            <a:r>
              <a:rPr lang="en-US" sz="2000" spc="-20" dirty="0">
                <a:effectLst/>
                <a:latin typeface="Times New Roman" panose="02020603050405020304" pitchFamily="18" charset="0"/>
                <a:ea typeface="Symbol" pitchFamily="2" charset="2"/>
                <a:cs typeface="Symbol" pitchFamily="2" charset="2"/>
              </a:rPr>
              <a:t>3.11</a:t>
            </a:r>
            <a:endParaRPr lang="en-IN" sz="2000" spc="0" dirty="0">
              <a:effectLst/>
              <a:latin typeface="Times New Roman" panose="02020603050405020304" pitchFamily="18" charset="0"/>
              <a:ea typeface="Symbol" pitchFamily="2" charset="2"/>
              <a:cs typeface="Symbol" pitchFamily="2" charset="2"/>
            </a:endParaRPr>
          </a:p>
          <a:p>
            <a:pPr marL="0" lvl="0" indent="0">
              <a:lnSpc>
                <a:spcPts val="1465"/>
              </a:lnSpc>
              <a:spcBef>
                <a:spcPts val="180"/>
              </a:spcBef>
              <a:buSzPts val="1200"/>
              <a:buNone/>
              <a:tabLst>
                <a:tab pos="596900" algn="l"/>
                <a:tab pos="2884170" algn="l"/>
                <a:tab pos="3341370" algn="l"/>
              </a:tabLst>
            </a:pPr>
            <a:r>
              <a:rPr lang="en-US" sz="2000" spc="-10" dirty="0">
                <a:effectLst/>
                <a:latin typeface="Times New Roman" panose="02020603050405020304" pitchFamily="18" charset="0"/>
                <a:ea typeface="Symbol" pitchFamily="2" charset="2"/>
                <a:cs typeface="Symbol" pitchFamily="2" charset="2"/>
              </a:rPr>
              <a:t>      Tools</a:t>
            </a:r>
            <a:r>
              <a:rPr lang="en-US" sz="2000" spc="0" dirty="0">
                <a:effectLst/>
                <a:latin typeface="Times New Roman" panose="02020603050405020304" pitchFamily="18" charset="0"/>
                <a:ea typeface="Symbol" pitchFamily="2" charset="2"/>
                <a:cs typeface="Symbol" pitchFamily="2" charset="2"/>
              </a:rPr>
              <a:t>	</a:t>
            </a:r>
            <a:r>
              <a:rPr lang="en-US" sz="2000" spc="-50" dirty="0">
                <a:effectLst/>
                <a:latin typeface="Times New Roman" panose="02020603050405020304" pitchFamily="18" charset="0"/>
                <a:ea typeface="Symbol" pitchFamily="2" charset="2"/>
                <a:cs typeface="Symbol" pitchFamily="2" charset="2"/>
              </a:rPr>
              <a:t>:</a:t>
            </a:r>
            <a:r>
              <a:rPr lang="en-US" sz="2000" dirty="0">
                <a:latin typeface="Times New Roman" panose="02020603050405020304" pitchFamily="18" charset="0"/>
                <a:ea typeface="Symbol" pitchFamily="2" charset="2"/>
                <a:cs typeface="Symbol" pitchFamily="2" charset="2"/>
              </a:rPr>
              <a:t>     </a:t>
            </a:r>
            <a:r>
              <a:rPr lang="en-US" sz="2000" spc="-35" dirty="0">
                <a:effectLst/>
                <a:latin typeface="Times New Roman" panose="02020603050405020304" pitchFamily="18" charset="0"/>
                <a:ea typeface="Symbol" pitchFamily="2" charset="2"/>
                <a:cs typeface="Symbol" pitchFamily="2" charset="2"/>
              </a:rPr>
              <a:t> </a:t>
            </a:r>
            <a:r>
              <a:rPr lang="en-US" sz="2000" spc="0" dirty="0">
                <a:effectLst/>
                <a:latin typeface="Times New Roman" panose="02020603050405020304" pitchFamily="18" charset="0"/>
                <a:ea typeface="Symbol" pitchFamily="2" charset="2"/>
                <a:cs typeface="Symbol" pitchFamily="2" charset="2"/>
              </a:rPr>
              <a:t>VS</a:t>
            </a:r>
            <a:r>
              <a:rPr lang="en-US" sz="2000" spc="-5" dirty="0">
                <a:effectLst/>
                <a:latin typeface="Times New Roman" panose="02020603050405020304" pitchFamily="18" charset="0"/>
                <a:ea typeface="Symbol" pitchFamily="2" charset="2"/>
                <a:cs typeface="Symbol" pitchFamily="2" charset="2"/>
              </a:rPr>
              <a:t> </a:t>
            </a:r>
            <a:r>
              <a:rPr lang="en-US" sz="2000" spc="-20" dirty="0">
                <a:effectLst/>
                <a:latin typeface="Times New Roman" panose="02020603050405020304" pitchFamily="18" charset="0"/>
                <a:ea typeface="Symbol" pitchFamily="2" charset="2"/>
                <a:cs typeface="Symbol" pitchFamily="2" charset="2"/>
              </a:rPr>
              <a:t>code</a:t>
            </a:r>
          </a:p>
          <a:p>
            <a:pPr marL="0" lvl="0" indent="0">
              <a:lnSpc>
                <a:spcPts val="1465"/>
              </a:lnSpc>
              <a:spcBef>
                <a:spcPts val="180"/>
              </a:spcBef>
              <a:buSzPts val="1200"/>
              <a:buNone/>
              <a:tabLst>
                <a:tab pos="596900" algn="l"/>
                <a:tab pos="2884170" algn="l"/>
                <a:tab pos="3341370" algn="l"/>
              </a:tabLst>
            </a:pPr>
            <a:endParaRPr lang="en-US" sz="2000" spc="-20" dirty="0">
              <a:latin typeface="Times New Roman" panose="02020603050405020304" pitchFamily="18" charset="0"/>
              <a:ea typeface="Symbol" pitchFamily="2" charset="2"/>
              <a:cs typeface="Symbol" pitchFamily="2" charset="2"/>
            </a:endParaRPr>
          </a:p>
          <a:p>
            <a:pPr marL="0" lvl="0" indent="0">
              <a:lnSpc>
                <a:spcPts val="1465"/>
              </a:lnSpc>
              <a:spcBef>
                <a:spcPts val="180"/>
              </a:spcBef>
              <a:buSzPts val="1200"/>
              <a:buNone/>
              <a:tabLst>
                <a:tab pos="596900" algn="l"/>
                <a:tab pos="2884170" algn="l"/>
                <a:tab pos="3341370" algn="l"/>
              </a:tabLst>
            </a:pPr>
            <a:endParaRPr lang="en-IN" sz="2000" spc="0" dirty="0">
              <a:effectLst/>
              <a:latin typeface="Times New Roman" panose="02020603050405020304" pitchFamily="18" charset="0"/>
              <a:ea typeface="Symbol" pitchFamily="2" charset="2"/>
              <a:cs typeface="Symbol" pitchFamily="2" charset="2"/>
            </a:endParaRPr>
          </a:p>
          <a:p>
            <a:pPr>
              <a:lnSpc>
                <a:spcPts val="1375"/>
              </a:lnSpc>
            </a:pPr>
            <a:r>
              <a:rPr lang="en-US" sz="2400" b="1" kern="0" dirty="0">
                <a:effectLst/>
                <a:latin typeface="Times New Roman" panose="02020603050405020304" pitchFamily="18" charset="0"/>
                <a:ea typeface="Times New Roman" panose="02020603050405020304" pitchFamily="18" charset="0"/>
              </a:rPr>
              <a:t>Hardware</a:t>
            </a:r>
            <a:r>
              <a:rPr lang="en-US" sz="2400" b="1" kern="0" spc="-50" dirty="0">
                <a:effectLst/>
                <a:latin typeface="Times New Roman" panose="02020603050405020304" pitchFamily="18" charset="0"/>
                <a:ea typeface="Times New Roman" panose="02020603050405020304" pitchFamily="18" charset="0"/>
              </a:rPr>
              <a:t> </a:t>
            </a:r>
            <a:r>
              <a:rPr lang="en-US" sz="2400" b="1" kern="0" spc="-10" dirty="0">
                <a:effectLst/>
                <a:latin typeface="Times New Roman" panose="02020603050405020304" pitchFamily="18" charset="0"/>
                <a:ea typeface="Times New Roman" panose="02020603050405020304" pitchFamily="18" charset="0"/>
              </a:rPr>
              <a:t>Requirements:</a:t>
            </a:r>
            <a:endParaRPr lang="en-IN" sz="2400" b="1" kern="0" dirty="0">
              <a:effectLst/>
              <a:latin typeface="Times New Roman" panose="02020603050405020304" pitchFamily="18" charset="0"/>
              <a:ea typeface="Times New Roman" panose="02020603050405020304" pitchFamily="18" charset="0"/>
            </a:endParaRPr>
          </a:p>
          <a:p>
            <a:pPr marL="0" lvl="0" indent="0">
              <a:spcBef>
                <a:spcPts val="210"/>
              </a:spcBef>
              <a:buSzPts val="1200"/>
              <a:buNone/>
              <a:tabLst>
                <a:tab pos="596900" algn="l"/>
                <a:tab pos="2884170" algn="l"/>
                <a:tab pos="3341370" algn="l"/>
              </a:tabLst>
            </a:pPr>
            <a:r>
              <a:rPr lang="en-US" sz="2000" spc="-10" dirty="0">
                <a:effectLst/>
                <a:latin typeface="Times New Roman" panose="02020603050405020304" pitchFamily="18" charset="0"/>
                <a:ea typeface="Symbol" pitchFamily="2" charset="2"/>
                <a:cs typeface="Symbol" pitchFamily="2" charset="2"/>
              </a:rPr>
              <a:t>      Processor</a:t>
            </a:r>
            <a:r>
              <a:rPr lang="en-US" sz="2000" spc="0" dirty="0">
                <a:effectLst/>
                <a:latin typeface="Times New Roman" panose="02020603050405020304" pitchFamily="18" charset="0"/>
                <a:ea typeface="Symbol" pitchFamily="2" charset="2"/>
                <a:cs typeface="Symbol" pitchFamily="2" charset="2"/>
              </a:rPr>
              <a:t>	</a:t>
            </a:r>
            <a:r>
              <a:rPr lang="en-US" sz="2000" spc="-50" dirty="0">
                <a:effectLst/>
                <a:latin typeface="Times New Roman" panose="02020603050405020304" pitchFamily="18" charset="0"/>
                <a:ea typeface="Symbol" pitchFamily="2" charset="2"/>
                <a:cs typeface="Symbol" pitchFamily="2" charset="2"/>
              </a:rPr>
              <a:t>:</a:t>
            </a:r>
            <a:r>
              <a:rPr lang="en-US" sz="2000" dirty="0">
                <a:latin typeface="Times New Roman" panose="02020603050405020304" pitchFamily="18" charset="0"/>
                <a:ea typeface="Symbol" pitchFamily="2" charset="2"/>
                <a:cs typeface="Symbol" pitchFamily="2" charset="2"/>
              </a:rPr>
              <a:t>       intel i3 and above</a:t>
            </a:r>
            <a:endParaRPr lang="en-IN" sz="2000" spc="0" dirty="0">
              <a:effectLst/>
              <a:latin typeface="Times New Roman" panose="02020603050405020304" pitchFamily="18" charset="0"/>
              <a:ea typeface="Symbol" pitchFamily="2" charset="2"/>
              <a:cs typeface="Symbol" pitchFamily="2" charset="2"/>
            </a:endParaRPr>
          </a:p>
          <a:p>
            <a:pPr marL="0" lvl="0" indent="0">
              <a:spcBef>
                <a:spcPts val="230"/>
              </a:spcBef>
              <a:buSzPts val="1200"/>
              <a:buNone/>
              <a:tabLst>
                <a:tab pos="596900" algn="l"/>
                <a:tab pos="2884170" algn="l"/>
                <a:tab pos="3341370" algn="l"/>
              </a:tabLst>
            </a:pPr>
            <a:r>
              <a:rPr lang="en-US" sz="2000" spc="0" dirty="0">
                <a:effectLst/>
                <a:latin typeface="Times New Roman" panose="02020603050405020304" pitchFamily="18" charset="0"/>
                <a:ea typeface="Symbol" pitchFamily="2" charset="2"/>
                <a:cs typeface="Symbol" pitchFamily="2" charset="2"/>
              </a:rPr>
              <a:t>      Hard</a:t>
            </a:r>
            <a:r>
              <a:rPr lang="en-US" sz="2000" spc="-15" dirty="0">
                <a:effectLst/>
                <a:latin typeface="Times New Roman" panose="02020603050405020304" pitchFamily="18" charset="0"/>
                <a:ea typeface="Symbol" pitchFamily="2" charset="2"/>
                <a:cs typeface="Symbol" pitchFamily="2" charset="2"/>
              </a:rPr>
              <a:t> </a:t>
            </a:r>
            <a:r>
              <a:rPr lang="en-US" sz="2000" spc="-20" dirty="0">
                <a:effectLst/>
                <a:latin typeface="Times New Roman" panose="02020603050405020304" pitchFamily="18" charset="0"/>
                <a:ea typeface="Symbol" pitchFamily="2" charset="2"/>
                <a:cs typeface="Symbol" pitchFamily="2" charset="2"/>
              </a:rPr>
              <a:t>Disk</a:t>
            </a:r>
            <a:r>
              <a:rPr lang="en-US" sz="2000" spc="0" dirty="0">
                <a:effectLst/>
                <a:latin typeface="Times New Roman" panose="02020603050405020304" pitchFamily="18" charset="0"/>
                <a:ea typeface="Symbol" pitchFamily="2" charset="2"/>
                <a:cs typeface="Symbol" pitchFamily="2" charset="2"/>
              </a:rPr>
              <a:t>	</a:t>
            </a:r>
            <a:r>
              <a:rPr lang="en-US" sz="2000" spc="-60" dirty="0">
                <a:effectLst/>
                <a:latin typeface="Times New Roman" panose="02020603050405020304" pitchFamily="18" charset="0"/>
                <a:ea typeface="Symbol" pitchFamily="2" charset="2"/>
                <a:cs typeface="Symbol" pitchFamily="2" charset="2"/>
              </a:rPr>
              <a:t>:</a:t>
            </a:r>
            <a:r>
              <a:rPr lang="en-US" sz="2000" spc="0" dirty="0">
                <a:effectLst/>
                <a:latin typeface="Times New Roman" panose="02020603050405020304" pitchFamily="18" charset="0"/>
                <a:ea typeface="Symbol" pitchFamily="2" charset="2"/>
                <a:cs typeface="Symbol" pitchFamily="2" charset="2"/>
              </a:rPr>
              <a:t>	</a:t>
            </a:r>
            <a:r>
              <a:rPr lang="en-US" sz="2000" spc="-10" dirty="0">
                <a:effectLst/>
                <a:latin typeface="Times New Roman" panose="02020603050405020304" pitchFamily="18" charset="0"/>
                <a:ea typeface="Symbol" pitchFamily="2" charset="2"/>
                <a:cs typeface="Symbol" pitchFamily="2" charset="2"/>
              </a:rPr>
              <a:t>500 GB</a:t>
            </a:r>
            <a:endParaRPr lang="en-IN" sz="2000" spc="0" dirty="0">
              <a:effectLst/>
              <a:latin typeface="Times New Roman" panose="02020603050405020304" pitchFamily="18" charset="0"/>
              <a:ea typeface="Symbol" pitchFamily="2" charset="2"/>
              <a:cs typeface="Symbol" pitchFamily="2" charset="2"/>
            </a:endParaRPr>
          </a:p>
          <a:p>
            <a:pPr marL="0" lvl="0" indent="0">
              <a:spcBef>
                <a:spcPts val="180"/>
              </a:spcBef>
              <a:buSzPts val="1200"/>
              <a:buNone/>
              <a:tabLst>
                <a:tab pos="596900" algn="l"/>
                <a:tab pos="2884170" algn="l"/>
                <a:tab pos="3341370" algn="l"/>
              </a:tabLst>
            </a:pPr>
            <a:r>
              <a:rPr lang="en-US" sz="2000" spc="-10" dirty="0">
                <a:effectLst/>
                <a:latin typeface="Times New Roman" panose="02020603050405020304" pitchFamily="18" charset="0"/>
                <a:ea typeface="Symbol" pitchFamily="2" charset="2"/>
                <a:cs typeface="Symbol" pitchFamily="2" charset="2"/>
              </a:rPr>
              <a:t>      Speed</a:t>
            </a:r>
            <a:r>
              <a:rPr lang="en-US" sz="2000" spc="0" dirty="0">
                <a:effectLst/>
                <a:latin typeface="Times New Roman" panose="02020603050405020304" pitchFamily="18" charset="0"/>
                <a:ea typeface="Symbol" pitchFamily="2" charset="2"/>
                <a:cs typeface="Symbol" pitchFamily="2" charset="2"/>
              </a:rPr>
              <a:t>	</a:t>
            </a:r>
            <a:r>
              <a:rPr lang="en-US" sz="2000" spc="-50" dirty="0">
                <a:effectLst/>
                <a:latin typeface="Times New Roman" panose="02020603050405020304" pitchFamily="18" charset="0"/>
                <a:ea typeface="Symbol" pitchFamily="2" charset="2"/>
                <a:cs typeface="Symbol" pitchFamily="2" charset="2"/>
              </a:rPr>
              <a:t>:</a:t>
            </a:r>
            <a:r>
              <a:rPr lang="en-US" sz="2000" spc="0" dirty="0">
                <a:effectLst/>
                <a:latin typeface="Times New Roman" panose="02020603050405020304" pitchFamily="18" charset="0"/>
                <a:ea typeface="Symbol" pitchFamily="2" charset="2"/>
                <a:cs typeface="Symbol" pitchFamily="2" charset="2"/>
              </a:rPr>
              <a:t>	3.8 </a:t>
            </a:r>
            <a:r>
              <a:rPr lang="en-US" sz="2000" spc="-25" dirty="0">
                <a:effectLst/>
                <a:latin typeface="Times New Roman" panose="02020603050405020304" pitchFamily="18" charset="0"/>
                <a:ea typeface="Symbol" pitchFamily="2" charset="2"/>
                <a:cs typeface="Symbol" pitchFamily="2" charset="2"/>
              </a:rPr>
              <a:t>GHz</a:t>
            </a:r>
            <a:endParaRPr lang="en-IN" sz="2000" spc="0" dirty="0">
              <a:effectLst/>
              <a:latin typeface="Times New Roman" panose="02020603050405020304" pitchFamily="18" charset="0"/>
              <a:ea typeface="Symbol" pitchFamily="2" charset="2"/>
              <a:cs typeface="Symbol" pitchFamily="2" charset="2"/>
            </a:endParaRPr>
          </a:p>
          <a:p>
            <a:pPr marL="0" lvl="0" indent="0">
              <a:spcBef>
                <a:spcPts val="205"/>
              </a:spcBef>
              <a:buSzPts val="1200"/>
              <a:buNone/>
              <a:tabLst>
                <a:tab pos="596900" algn="l"/>
                <a:tab pos="2884170" algn="l"/>
                <a:tab pos="3341370" algn="l"/>
              </a:tabLst>
            </a:pPr>
            <a:r>
              <a:rPr lang="en-US" sz="2000" spc="-25" dirty="0">
                <a:effectLst/>
                <a:latin typeface="Times New Roman" panose="02020603050405020304" pitchFamily="18" charset="0"/>
                <a:ea typeface="Symbol" pitchFamily="2" charset="2"/>
                <a:cs typeface="Symbol" pitchFamily="2" charset="2"/>
              </a:rPr>
              <a:t>      RAM</a:t>
            </a:r>
            <a:r>
              <a:rPr lang="en-US" sz="2000" spc="0" dirty="0">
                <a:effectLst/>
                <a:latin typeface="Times New Roman" panose="02020603050405020304" pitchFamily="18" charset="0"/>
                <a:ea typeface="Symbol" pitchFamily="2" charset="2"/>
                <a:cs typeface="Symbol" pitchFamily="2" charset="2"/>
              </a:rPr>
              <a:t>	</a:t>
            </a:r>
            <a:r>
              <a:rPr lang="en-US" sz="2000" spc="-50" dirty="0">
                <a:effectLst/>
                <a:latin typeface="Times New Roman" panose="02020603050405020304" pitchFamily="18" charset="0"/>
                <a:ea typeface="Symbol" pitchFamily="2" charset="2"/>
                <a:cs typeface="Symbol" pitchFamily="2" charset="2"/>
              </a:rPr>
              <a:t>:</a:t>
            </a:r>
            <a:r>
              <a:rPr lang="en-US" sz="2000" spc="0" dirty="0">
                <a:effectLst/>
                <a:latin typeface="Times New Roman" panose="02020603050405020304" pitchFamily="18" charset="0"/>
                <a:ea typeface="Symbol" pitchFamily="2" charset="2"/>
                <a:cs typeface="Symbol" pitchFamily="2" charset="2"/>
              </a:rPr>
              <a:t>	</a:t>
            </a:r>
            <a:r>
              <a:rPr lang="en-US" sz="2000" dirty="0">
                <a:latin typeface="Times New Roman" panose="02020603050405020304" pitchFamily="18" charset="0"/>
                <a:ea typeface="Symbol" pitchFamily="2" charset="2"/>
                <a:cs typeface="Symbol" pitchFamily="2" charset="2"/>
              </a:rPr>
              <a:t>8 </a:t>
            </a:r>
            <a:r>
              <a:rPr lang="en-US" sz="2000" spc="-25" dirty="0">
                <a:effectLst/>
                <a:latin typeface="Times New Roman" panose="02020603050405020304" pitchFamily="18" charset="0"/>
                <a:ea typeface="Symbol" pitchFamily="2" charset="2"/>
                <a:cs typeface="Symbol" pitchFamily="2" charset="2"/>
              </a:rPr>
              <a:t>GB</a:t>
            </a:r>
            <a:endParaRPr lang="en-IN" sz="2000" spc="0" dirty="0">
              <a:effectLst/>
              <a:latin typeface="Times New Roman" panose="02020603050405020304" pitchFamily="18" charset="0"/>
              <a:ea typeface="Symbol" pitchFamily="2" charset="2"/>
              <a:cs typeface="Symbol" pitchFamily="2" charset="2"/>
            </a:endParaRPr>
          </a:p>
        </p:txBody>
      </p:sp>
    </p:spTree>
    <p:extLst>
      <p:ext uri="{BB962C8B-B14F-4D97-AF65-F5344CB8AC3E}">
        <p14:creationId xmlns:p14="http://schemas.microsoft.com/office/powerpoint/2010/main" val="136469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C93C3-1640-A8EE-E9CD-FB1167BCD864}"/>
              </a:ext>
            </a:extLst>
          </p:cNvPr>
          <p:cNvSpPr>
            <a:spLocks noGrp="1"/>
          </p:cNvSpPr>
          <p:nvPr>
            <p:ph type="title"/>
          </p:nvPr>
        </p:nvSpPr>
        <p:spPr>
          <a:xfrm>
            <a:off x="2072225" y="370523"/>
            <a:ext cx="8911687" cy="1280890"/>
          </a:xfrm>
        </p:spPr>
        <p:txBody>
          <a:bodyPr>
            <a:normAutofit/>
          </a:bodyPr>
          <a:lstStyle/>
          <a:p>
            <a:r>
              <a:rPr lang="en-US" b="1" dirty="0">
                <a:latin typeface="Times New Roman" panose="02020603050405020304" pitchFamily="18" charset="0"/>
                <a:cs typeface="Times New Roman" panose="02020603050405020304" pitchFamily="18" charset="0"/>
              </a:rPr>
              <a:t>					UML Diagrams</a:t>
            </a:r>
            <a:br>
              <a:rPr lang="en-US" sz="2800" dirty="0">
                <a:latin typeface="Times New Roman" panose="02020603050405020304" pitchFamily="18" charset="0"/>
                <a:cs typeface="Times New Roman" panose="02020603050405020304" pitchFamily="18" charset="0"/>
              </a:rPr>
            </a:br>
            <a:r>
              <a:rPr lang="en-US" sz="2800" dirty="0" err="1">
                <a:latin typeface="Times New Roman" panose="02020603050405020304" pitchFamily="18" charset="0"/>
                <a:cs typeface="Times New Roman" panose="02020603050405020304" pitchFamily="18" charset="0"/>
              </a:rPr>
              <a:t>Usecase</a:t>
            </a:r>
            <a:r>
              <a:rPr lang="en-US" sz="2800" dirty="0">
                <a:latin typeface="Times New Roman" panose="02020603050405020304" pitchFamily="18" charset="0"/>
                <a:cs typeface="Times New Roman" panose="02020603050405020304" pitchFamily="18" charset="0"/>
              </a:rPr>
              <a:t> diagram :</a:t>
            </a:r>
            <a:endParaRPr lang="en-IN" sz="2800" dirty="0">
              <a:latin typeface="Times New Roman" panose="02020603050405020304" pitchFamily="18" charset="0"/>
              <a:cs typeface="Times New Roman" panose="02020603050405020304" pitchFamily="18" charset="0"/>
            </a:endParaRPr>
          </a:p>
        </p:txBody>
      </p:sp>
      <p:pic>
        <p:nvPicPr>
          <p:cNvPr id="3" name="Content Placeholder 3" descr="A diagram of a software development process&#10;&#10;Description automatically generated">
            <a:extLst>
              <a:ext uri="{FF2B5EF4-FFF2-40B4-BE49-F238E27FC236}">
                <a16:creationId xmlns:a16="http://schemas.microsoft.com/office/drawing/2014/main" id="{E5BF3D43-2A21-0876-114B-906CA6821A4F}"/>
              </a:ext>
            </a:extLst>
          </p:cNvPr>
          <p:cNvPicPr>
            <a:picLocks/>
          </p:cNvPicPr>
          <p:nvPr/>
        </p:nvPicPr>
        <p:blipFill>
          <a:blip r:embed="rId2"/>
          <a:stretch>
            <a:fillRect/>
          </a:stretch>
        </p:blipFill>
        <p:spPr>
          <a:xfrm>
            <a:off x="2632364" y="1651413"/>
            <a:ext cx="6927272" cy="4361459"/>
          </a:xfrm>
          <a:prstGeom prst="rect">
            <a:avLst/>
          </a:prstGeom>
        </p:spPr>
      </p:pic>
    </p:spTree>
    <p:extLst>
      <p:ext uri="{BB962C8B-B14F-4D97-AF65-F5344CB8AC3E}">
        <p14:creationId xmlns:p14="http://schemas.microsoft.com/office/powerpoint/2010/main" val="354739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2A5C1-0068-D89C-EF4D-0FB1481D4F75}"/>
              </a:ext>
            </a:extLst>
          </p:cNvPr>
          <p:cNvSpPr>
            <a:spLocks noGrp="1"/>
          </p:cNvSpPr>
          <p:nvPr>
            <p:ph type="title"/>
          </p:nvPr>
        </p:nvSpPr>
        <p:spPr>
          <a:xfrm>
            <a:off x="2003240" y="833271"/>
            <a:ext cx="8911687" cy="1280890"/>
          </a:xfrm>
        </p:spPr>
        <p:txBody>
          <a:bodyPr>
            <a:normAutofit/>
          </a:bodyPr>
          <a:lstStyle/>
          <a:p>
            <a:r>
              <a:rPr lang="en-IN" sz="2800" dirty="0">
                <a:latin typeface="Times New Roman" panose="02020603050405020304" pitchFamily="18" charset="0"/>
                <a:cs typeface="Times New Roman" panose="02020603050405020304" pitchFamily="18" charset="0"/>
              </a:rPr>
              <a:t>Class diagram:</a:t>
            </a:r>
          </a:p>
        </p:txBody>
      </p:sp>
      <p:pic>
        <p:nvPicPr>
          <p:cNvPr id="20" name="Content Placeholder 19">
            <a:extLst>
              <a:ext uri="{FF2B5EF4-FFF2-40B4-BE49-F238E27FC236}">
                <a16:creationId xmlns:a16="http://schemas.microsoft.com/office/drawing/2014/main" id="{713E53A9-4C96-E009-D272-C022141075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7640" y="1735494"/>
            <a:ext cx="6447453" cy="4176356"/>
          </a:xfrm>
        </p:spPr>
      </p:pic>
    </p:spTree>
    <p:extLst>
      <p:ext uri="{BB962C8B-B14F-4D97-AF65-F5344CB8AC3E}">
        <p14:creationId xmlns:p14="http://schemas.microsoft.com/office/powerpoint/2010/main" val="1262294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0E077-355E-98E7-3B2B-C52DCD39EF44}"/>
              </a:ext>
            </a:extLst>
          </p:cNvPr>
          <p:cNvSpPr>
            <a:spLocks noGrp="1"/>
          </p:cNvSpPr>
          <p:nvPr>
            <p:ph type="title"/>
          </p:nvPr>
        </p:nvSpPr>
        <p:spPr>
          <a:xfrm>
            <a:off x="2079741" y="808908"/>
            <a:ext cx="8911687" cy="1280890"/>
          </a:xfrm>
        </p:spPr>
        <p:txBody>
          <a:bodyPr>
            <a:normAutofit/>
          </a:bodyPr>
          <a:lstStyle/>
          <a:p>
            <a:r>
              <a:rPr lang="en-US" sz="2800" dirty="0">
                <a:latin typeface="Times New Roman" panose="02020603050405020304" pitchFamily="18" charset="0"/>
                <a:cs typeface="Times New Roman" panose="02020603050405020304" pitchFamily="18" charset="0"/>
              </a:rPr>
              <a:t>Sequence diagram :</a:t>
            </a:r>
            <a:endParaRPr lang="en-IN" sz="28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940951BA-01C9-8EF9-2824-925065739E49}"/>
              </a:ext>
            </a:extLst>
          </p:cNvPr>
          <p:cNvPicPr>
            <a:picLocks noGrp="1"/>
          </p:cNvPicPr>
          <p:nvPr>
            <p:ph idx="1"/>
          </p:nvPr>
        </p:nvPicPr>
        <p:blipFill rotWithShape="1">
          <a:blip r:embed="rId2"/>
          <a:srcRect l="20281"/>
          <a:stretch/>
        </p:blipFill>
        <p:spPr>
          <a:xfrm>
            <a:off x="3722479" y="1449353"/>
            <a:ext cx="5162963" cy="4427012"/>
          </a:xfrm>
          <a:prstGeom prst="rect">
            <a:avLst/>
          </a:prstGeom>
        </p:spPr>
      </p:pic>
    </p:spTree>
    <p:extLst>
      <p:ext uri="{BB962C8B-B14F-4D97-AF65-F5344CB8AC3E}">
        <p14:creationId xmlns:p14="http://schemas.microsoft.com/office/powerpoint/2010/main" val="1883453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1A54-8D69-D9F7-7938-EB0DAF22D2D7}"/>
              </a:ext>
            </a:extLst>
          </p:cNvPr>
          <p:cNvSpPr>
            <a:spLocks noGrp="1"/>
          </p:cNvSpPr>
          <p:nvPr>
            <p:ph type="title"/>
          </p:nvPr>
        </p:nvSpPr>
        <p:spPr>
          <a:xfrm>
            <a:off x="2057711" y="871371"/>
            <a:ext cx="8911687" cy="1280890"/>
          </a:xfrm>
        </p:spPr>
        <p:txBody>
          <a:bodyPr>
            <a:normAutofit/>
          </a:bodyPr>
          <a:lstStyle/>
          <a:p>
            <a:r>
              <a:rPr lang="en-US" sz="2800" dirty="0">
                <a:latin typeface="Times New Roman" panose="02020603050405020304" pitchFamily="18" charset="0"/>
                <a:cs typeface="Times New Roman" panose="02020603050405020304" pitchFamily="18" charset="0"/>
              </a:rPr>
              <a:t>Collaboration diagram :</a:t>
            </a:r>
            <a:endParaRPr lang="en-IN" sz="28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C3F5B87B-004F-B159-F1C1-3053EFB8F4B0}"/>
              </a:ext>
            </a:extLst>
          </p:cNvPr>
          <p:cNvPicPr>
            <a:picLocks noGrp="1"/>
          </p:cNvPicPr>
          <p:nvPr>
            <p:ph idx="1"/>
          </p:nvPr>
        </p:nvPicPr>
        <p:blipFill rotWithShape="1">
          <a:blip r:embed="rId2"/>
          <a:srcRect l="9939" t="25244"/>
          <a:stretch/>
        </p:blipFill>
        <p:spPr>
          <a:xfrm>
            <a:off x="2844800" y="2152261"/>
            <a:ext cx="7077116" cy="2684462"/>
          </a:xfrm>
          <a:prstGeom prst="rect">
            <a:avLst/>
          </a:prstGeom>
        </p:spPr>
      </p:pic>
    </p:spTree>
    <p:extLst>
      <p:ext uri="{BB962C8B-B14F-4D97-AF65-F5344CB8AC3E}">
        <p14:creationId xmlns:p14="http://schemas.microsoft.com/office/powerpoint/2010/main" val="506039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2B23D-7BBB-4B36-813E-5AA809C8692A}"/>
              </a:ext>
            </a:extLst>
          </p:cNvPr>
          <p:cNvSpPr>
            <a:spLocks noGrp="1"/>
          </p:cNvSpPr>
          <p:nvPr>
            <p:ph type="title"/>
          </p:nvPr>
        </p:nvSpPr>
        <p:spPr>
          <a:xfrm>
            <a:off x="2061080" y="899430"/>
            <a:ext cx="8911687" cy="1280890"/>
          </a:xfrm>
        </p:spPr>
        <p:txBody>
          <a:bodyPr>
            <a:normAutofit/>
          </a:bodyPr>
          <a:lstStyle/>
          <a:p>
            <a:r>
              <a:rPr lang="en-US" sz="2800" dirty="0">
                <a:latin typeface="Times New Roman" panose="02020603050405020304" pitchFamily="18" charset="0"/>
                <a:cs typeface="Times New Roman" panose="02020603050405020304" pitchFamily="18" charset="0"/>
              </a:rPr>
              <a:t>Activity diagram :</a:t>
            </a:r>
            <a:endParaRPr lang="en-IN" sz="28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53ADEFF0-903B-28AB-0706-68CE898FDF89}"/>
              </a:ext>
            </a:extLst>
          </p:cNvPr>
          <p:cNvPicPr>
            <a:picLocks noGrp="1"/>
          </p:cNvPicPr>
          <p:nvPr>
            <p:ph idx="1"/>
          </p:nvPr>
        </p:nvPicPr>
        <p:blipFill>
          <a:blip r:embed="rId2"/>
          <a:stretch>
            <a:fillRect/>
          </a:stretch>
        </p:blipFill>
        <p:spPr>
          <a:xfrm>
            <a:off x="4478534" y="1539874"/>
            <a:ext cx="3776466" cy="4581525"/>
          </a:xfrm>
          <a:prstGeom prst="rect">
            <a:avLst/>
          </a:prstGeom>
        </p:spPr>
      </p:pic>
    </p:spTree>
    <p:extLst>
      <p:ext uri="{BB962C8B-B14F-4D97-AF65-F5344CB8AC3E}">
        <p14:creationId xmlns:p14="http://schemas.microsoft.com/office/powerpoint/2010/main" val="2687973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489F-38E8-09A4-9C5B-EA8C0D9B815C}"/>
              </a:ext>
            </a:extLst>
          </p:cNvPr>
          <p:cNvSpPr>
            <a:spLocks noGrp="1"/>
          </p:cNvSpPr>
          <p:nvPr>
            <p:ph type="title"/>
          </p:nvPr>
        </p:nvSpPr>
        <p:spPr>
          <a:xfrm>
            <a:off x="4390657" y="771650"/>
            <a:ext cx="6152936" cy="1280890"/>
          </a:xfrm>
        </p:spPr>
        <p:txBody>
          <a:bodyPr>
            <a:normAutofit/>
          </a:bodyPr>
          <a:lstStyle/>
          <a:p>
            <a:r>
              <a:rPr lang="en-US" sz="2800" dirty="0">
                <a:latin typeface="Times New Roman" panose="02020603050405020304" pitchFamily="18" charset="0"/>
                <a:cs typeface="Times New Roman" panose="02020603050405020304" pitchFamily="18" charset="0"/>
              </a:rPr>
              <a:t>Test case specification table</a:t>
            </a:r>
            <a:endParaRPr lang="en-IN" sz="28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3E108A4A-02F1-5413-7B09-464BEC09BE12}"/>
              </a:ext>
            </a:extLst>
          </p:cNvPr>
          <p:cNvGraphicFramePr>
            <a:graphicFrameLocks noGrp="1"/>
          </p:cNvGraphicFramePr>
          <p:nvPr>
            <p:ph idx="1"/>
            <p:extLst>
              <p:ext uri="{D42A27DB-BD31-4B8C-83A1-F6EECF244321}">
                <p14:modId xmlns:p14="http://schemas.microsoft.com/office/powerpoint/2010/main" val="632100"/>
              </p:ext>
            </p:extLst>
          </p:nvPr>
        </p:nvGraphicFramePr>
        <p:xfrm>
          <a:off x="2411606" y="2052540"/>
          <a:ext cx="8658807" cy="2952655"/>
        </p:xfrm>
        <a:graphic>
          <a:graphicData uri="http://schemas.openxmlformats.org/drawingml/2006/table">
            <a:tbl>
              <a:tblPr firstRow="1" firstCol="1" bandRow="1">
                <a:tableStyleId>{5C22544A-7EE6-4342-B048-85BDC9FD1C3A}</a:tableStyleId>
              </a:tblPr>
              <a:tblGrid>
                <a:gridCol w="1011916">
                  <a:extLst>
                    <a:ext uri="{9D8B030D-6E8A-4147-A177-3AD203B41FA5}">
                      <a16:colId xmlns:a16="http://schemas.microsoft.com/office/drawing/2014/main" val="1590190469"/>
                    </a:ext>
                  </a:extLst>
                </a:gridCol>
                <a:gridCol w="1494509">
                  <a:extLst>
                    <a:ext uri="{9D8B030D-6E8A-4147-A177-3AD203B41FA5}">
                      <a16:colId xmlns:a16="http://schemas.microsoft.com/office/drawing/2014/main" val="2544398781"/>
                    </a:ext>
                  </a:extLst>
                </a:gridCol>
                <a:gridCol w="1384439">
                  <a:extLst>
                    <a:ext uri="{9D8B030D-6E8A-4147-A177-3AD203B41FA5}">
                      <a16:colId xmlns:a16="http://schemas.microsoft.com/office/drawing/2014/main" val="1384187182"/>
                    </a:ext>
                  </a:extLst>
                </a:gridCol>
                <a:gridCol w="1670180">
                  <a:extLst>
                    <a:ext uri="{9D8B030D-6E8A-4147-A177-3AD203B41FA5}">
                      <a16:colId xmlns:a16="http://schemas.microsoft.com/office/drawing/2014/main" val="106131936"/>
                    </a:ext>
                  </a:extLst>
                </a:gridCol>
                <a:gridCol w="1953740">
                  <a:extLst>
                    <a:ext uri="{9D8B030D-6E8A-4147-A177-3AD203B41FA5}">
                      <a16:colId xmlns:a16="http://schemas.microsoft.com/office/drawing/2014/main" val="738783765"/>
                    </a:ext>
                  </a:extLst>
                </a:gridCol>
                <a:gridCol w="1144023">
                  <a:extLst>
                    <a:ext uri="{9D8B030D-6E8A-4147-A177-3AD203B41FA5}">
                      <a16:colId xmlns:a16="http://schemas.microsoft.com/office/drawing/2014/main" val="774285965"/>
                    </a:ext>
                  </a:extLst>
                </a:gridCol>
              </a:tblGrid>
              <a:tr h="1079698">
                <a:tc>
                  <a:txBody>
                    <a:bodyPr/>
                    <a:lstStyle/>
                    <a:p>
                      <a:pPr marL="3175" marR="385445" indent="-6350" algn="just">
                        <a:lnSpc>
                          <a:spcPct val="107000"/>
                        </a:lnSpc>
                        <a:spcAft>
                          <a:spcPts val="15"/>
                        </a:spcAft>
                      </a:pPr>
                      <a:r>
                        <a:rPr lang="en-IN" sz="1300">
                          <a:effectLst/>
                        </a:rPr>
                        <a:t>Test Case id </a:t>
                      </a:r>
                      <a:endParaRPr lang="en-IN"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385445" indent="-6350" algn="l">
                        <a:lnSpc>
                          <a:spcPct val="107000"/>
                        </a:lnSpc>
                        <a:spcAft>
                          <a:spcPts val="15"/>
                        </a:spcAft>
                      </a:pPr>
                      <a:r>
                        <a:rPr lang="en-IN" sz="1300" dirty="0">
                          <a:effectLst/>
                        </a:rPr>
                        <a:t>Test Case Name</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3175" marR="385445" indent="-6350" algn="l">
                        <a:lnSpc>
                          <a:spcPct val="107000"/>
                        </a:lnSpc>
                        <a:spcAft>
                          <a:spcPts val="15"/>
                        </a:spcAft>
                      </a:pPr>
                      <a:r>
                        <a:rPr lang="en-IN" sz="1300" dirty="0">
                          <a:effectLst/>
                        </a:rPr>
                        <a:t>Input </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385445" indent="-6350" algn="l">
                        <a:lnSpc>
                          <a:spcPct val="107000"/>
                        </a:lnSpc>
                        <a:spcAft>
                          <a:spcPts val="15"/>
                        </a:spcAft>
                      </a:pPr>
                      <a:r>
                        <a:rPr lang="en-IN" sz="1300">
                          <a:effectLst/>
                        </a:rPr>
                        <a:t>Expected output </a:t>
                      </a:r>
                      <a:endParaRPr lang="en-IN"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3175" marR="385445" indent="-6350" algn="l">
                        <a:lnSpc>
                          <a:spcPct val="107000"/>
                        </a:lnSpc>
                        <a:spcAft>
                          <a:spcPts val="15"/>
                        </a:spcAft>
                      </a:pPr>
                      <a:r>
                        <a:rPr lang="en-IN" sz="1300">
                          <a:effectLst/>
                        </a:rPr>
                        <a:t>Observed output </a:t>
                      </a:r>
                      <a:endParaRPr lang="en-IN"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3175" marR="385445" indent="-6350" algn="l">
                        <a:lnSpc>
                          <a:spcPct val="107000"/>
                        </a:lnSpc>
                        <a:spcAft>
                          <a:spcPts val="15"/>
                        </a:spcAft>
                      </a:pPr>
                      <a:r>
                        <a:rPr lang="en-IN" sz="1300">
                          <a:effectLst/>
                        </a:rPr>
                        <a:t>Result </a:t>
                      </a:r>
                      <a:endParaRPr lang="en-IN"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extLst>
                  <a:ext uri="{0D108BD9-81ED-4DB2-BD59-A6C34878D82A}">
                    <a16:rowId xmlns:a16="http://schemas.microsoft.com/office/drawing/2014/main" val="3758607711"/>
                  </a:ext>
                </a:extLst>
              </a:tr>
              <a:tr h="989596">
                <a:tc>
                  <a:txBody>
                    <a:bodyPr/>
                    <a:lstStyle/>
                    <a:p>
                      <a:pPr marL="3175" marR="429895" indent="-6350" algn="l">
                        <a:lnSpc>
                          <a:spcPct val="107000"/>
                        </a:lnSpc>
                        <a:spcAft>
                          <a:spcPts val="15"/>
                        </a:spcAft>
                      </a:pPr>
                      <a:r>
                        <a:rPr lang="en-IN" sz="1300" dirty="0">
                          <a:effectLst/>
                        </a:rPr>
                        <a:t>             T1 </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429895" indent="-6350" algn="l">
                        <a:lnSpc>
                          <a:spcPct val="107000"/>
                        </a:lnSpc>
                        <a:spcAft>
                          <a:spcPts val="15"/>
                        </a:spcAft>
                      </a:pPr>
                      <a:r>
                        <a:rPr lang="en-IN" sz="1100" dirty="0" err="1">
                          <a:effectLst/>
                          <a:latin typeface="Times New Roman" panose="02020603050405020304" pitchFamily="18" charset="0"/>
                          <a:cs typeface="Times New Roman" panose="02020603050405020304" pitchFamily="18" charset="0"/>
                        </a:rPr>
                        <a:t>Tumor</a:t>
                      </a:r>
                      <a:r>
                        <a:rPr lang="en-IN" sz="1100" dirty="0">
                          <a:effectLst/>
                          <a:latin typeface="Times New Roman" panose="02020603050405020304" pitchFamily="18" charset="0"/>
                          <a:cs typeface="Times New Roman" panose="02020603050405020304" pitchFamily="18" charset="0"/>
                        </a:rPr>
                        <a:t> detection</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385445" indent="-6350" algn="l">
                        <a:lnSpc>
                          <a:spcPct val="107000"/>
                        </a:lnSpc>
                        <a:spcAft>
                          <a:spcPts val="15"/>
                        </a:spcAft>
                      </a:pPr>
                      <a:r>
                        <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MRI image</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385445" indent="-6350" algn="just">
                        <a:lnSpc>
                          <a:spcPct val="107000"/>
                        </a:lnSpc>
                        <a:spcAft>
                          <a:spcPts val="15"/>
                        </a:spcAft>
                      </a:pPr>
                      <a:r>
                        <a:rPr lang="en-IN" sz="1100" dirty="0">
                          <a:effectLst/>
                          <a:latin typeface="Times New Roman" panose="02020603050405020304" pitchFamily="18" charset="0"/>
                          <a:cs typeface="Times New Roman" panose="02020603050405020304" pitchFamily="18" charset="0"/>
                        </a:rPr>
                        <a:t>Display the name of </a:t>
                      </a:r>
                      <a:r>
                        <a:rPr lang="en-IN" sz="1100" dirty="0" err="1">
                          <a:effectLst/>
                          <a:latin typeface="Times New Roman" panose="02020603050405020304" pitchFamily="18" charset="0"/>
                          <a:cs typeface="Times New Roman" panose="02020603050405020304" pitchFamily="18" charset="0"/>
                        </a:rPr>
                        <a:t>tumor</a:t>
                      </a:r>
                      <a:r>
                        <a:rPr lang="en-IN" sz="1100" dirty="0">
                          <a:effectLst/>
                          <a:latin typeface="Times New Roman" panose="02020603050405020304" pitchFamily="18" charset="0"/>
                          <a:cs typeface="Times New Roman" panose="02020603050405020304" pitchFamily="18" charset="0"/>
                        </a:rPr>
                        <a:t> </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385445" indent="-6350" algn="l">
                        <a:lnSpc>
                          <a:spcPct val="107000"/>
                        </a:lnSpc>
                        <a:spcAft>
                          <a:spcPts val="140"/>
                        </a:spcAft>
                        <a:tabLst>
                          <a:tab pos="591185" algn="ctr"/>
                          <a:tab pos="1130935" algn="r"/>
                        </a:tabLst>
                      </a:pPr>
                      <a:r>
                        <a:rPr lang="en-IN" sz="1100" dirty="0" err="1">
                          <a:effectLst/>
                          <a:latin typeface="Times New Roman" panose="02020603050405020304" pitchFamily="18" charset="0"/>
                          <a:cs typeface="Times New Roman" panose="02020603050405020304" pitchFamily="18" charset="0"/>
                        </a:rPr>
                        <a:t>Tumor</a:t>
                      </a:r>
                      <a:r>
                        <a:rPr lang="en-IN" sz="1100" dirty="0">
                          <a:effectLst/>
                          <a:latin typeface="Times New Roman" panose="02020603050405020304" pitchFamily="18" charset="0"/>
                          <a:cs typeface="Times New Roman" panose="02020603050405020304" pitchFamily="18" charset="0"/>
                        </a:rPr>
                        <a:t> name is displayed </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3175" marR="466725" indent="-6350" algn="l">
                        <a:lnSpc>
                          <a:spcPct val="107000"/>
                        </a:lnSpc>
                        <a:spcAft>
                          <a:spcPts val="15"/>
                        </a:spcAft>
                      </a:pPr>
                      <a:r>
                        <a:rPr lang="en-IN" sz="1100" dirty="0">
                          <a:effectLst/>
                          <a:latin typeface="Times New Roman" panose="02020603050405020304" pitchFamily="18" charset="0"/>
                          <a:cs typeface="Times New Roman" panose="02020603050405020304" pitchFamily="18" charset="0"/>
                        </a:rPr>
                        <a:t>     Pass</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extLst>
                  <a:ext uri="{0D108BD9-81ED-4DB2-BD59-A6C34878D82A}">
                    <a16:rowId xmlns:a16="http://schemas.microsoft.com/office/drawing/2014/main" val="3408563246"/>
                  </a:ext>
                </a:extLst>
              </a:tr>
              <a:tr h="883361">
                <a:tc>
                  <a:txBody>
                    <a:bodyPr/>
                    <a:lstStyle/>
                    <a:p>
                      <a:pPr marL="3175" marR="385445" indent="-6350" algn="l">
                        <a:lnSpc>
                          <a:spcPct val="107000"/>
                        </a:lnSpc>
                        <a:spcAft>
                          <a:spcPts val="130"/>
                        </a:spcAft>
                      </a:pPr>
                      <a:r>
                        <a:rPr lang="en-IN" sz="1300">
                          <a:effectLst/>
                        </a:rPr>
                        <a:t>  </a:t>
                      </a:r>
                      <a:endParaRPr lang="en-IN" sz="1100">
                        <a:effectLst/>
                      </a:endParaRPr>
                    </a:p>
                    <a:p>
                      <a:pPr marL="3175" marR="385445" indent="-6350" algn="l">
                        <a:lnSpc>
                          <a:spcPct val="107000"/>
                        </a:lnSpc>
                        <a:spcAft>
                          <a:spcPts val="15"/>
                        </a:spcAft>
                      </a:pPr>
                      <a:r>
                        <a:rPr lang="en-IN" sz="1300">
                          <a:effectLst/>
                        </a:rPr>
                        <a:t> T2 </a:t>
                      </a:r>
                      <a:endParaRPr lang="en-IN"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385445" indent="-6350" algn="l">
                        <a:lnSpc>
                          <a:spcPct val="152000"/>
                        </a:lnSpc>
                        <a:spcAft>
                          <a:spcPts val="15"/>
                        </a:spcAft>
                      </a:pPr>
                      <a:r>
                        <a:rPr lang="en-IN" sz="1100" dirty="0" err="1">
                          <a:effectLst/>
                          <a:latin typeface="Times New Roman" panose="02020603050405020304" pitchFamily="18" charset="0"/>
                          <a:cs typeface="Times New Roman" panose="02020603050405020304" pitchFamily="18" charset="0"/>
                        </a:rPr>
                        <a:t>Tumor</a:t>
                      </a:r>
                      <a:r>
                        <a:rPr lang="en-IN" sz="1100" dirty="0">
                          <a:effectLst/>
                          <a:latin typeface="Times New Roman" panose="02020603050405020304" pitchFamily="18" charset="0"/>
                          <a:cs typeface="Times New Roman" panose="02020603050405020304" pitchFamily="18" charset="0"/>
                        </a:rPr>
                        <a:t> detection</a:t>
                      </a:r>
                    </a:p>
                    <a:p>
                      <a:pPr marL="3175" marR="385445" indent="-6350" algn="l">
                        <a:lnSpc>
                          <a:spcPct val="107000"/>
                        </a:lnSpc>
                        <a:spcAft>
                          <a:spcPts val="15"/>
                        </a:spcAft>
                      </a:pPr>
                      <a:r>
                        <a:rPr lang="en-IN" sz="1100" dirty="0">
                          <a:effectLst/>
                          <a:latin typeface="Times New Roman" panose="02020603050405020304" pitchFamily="18" charset="0"/>
                          <a:cs typeface="Times New Roman" panose="02020603050405020304" pitchFamily="18" charset="0"/>
                        </a:rPr>
                        <a:t> </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3175" marR="385445" indent="-6350" algn="ctr">
                        <a:lnSpc>
                          <a:spcPct val="107000"/>
                        </a:lnSpc>
                        <a:spcAft>
                          <a:spcPts val="15"/>
                        </a:spcAft>
                      </a:pPr>
                      <a:r>
                        <a:rPr lang="en-IN" sz="1100" dirty="0">
                          <a:effectLst/>
                          <a:latin typeface="Times New Roman" panose="02020603050405020304" pitchFamily="18" charset="0"/>
                          <a:cs typeface="Times New Roman" panose="02020603050405020304" pitchFamily="18" charset="0"/>
                        </a:rPr>
                        <a:t>   Normal image</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294640" marR="385445" indent="-6350" algn="just">
                        <a:lnSpc>
                          <a:spcPct val="107000"/>
                        </a:lnSpc>
                        <a:spcAft>
                          <a:spcPts val="15"/>
                        </a:spcAft>
                      </a:pPr>
                      <a:r>
                        <a:rPr lang="en-IN" sz="1100" dirty="0">
                          <a:effectLst/>
                          <a:latin typeface="Times New Roman" panose="02020603050405020304" pitchFamily="18" charset="0"/>
                          <a:cs typeface="Times New Roman" panose="02020603050405020304" pitchFamily="18" charset="0"/>
                        </a:rPr>
                        <a:t>Error message will be display</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3175" marR="385445" indent="-6350" algn="just">
                        <a:lnSpc>
                          <a:spcPct val="107000"/>
                        </a:lnSpc>
                        <a:spcAft>
                          <a:spcPts val="15"/>
                        </a:spcAft>
                      </a:pPr>
                      <a:r>
                        <a:rPr lang="en-IN" sz="1100" dirty="0">
                          <a:effectLst/>
                          <a:latin typeface="Times New Roman" panose="02020603050405020304" pitchFamily="18" charset="0"/>
                          <a:cs typeface="Times New Roman" panose="02020603050405020304" pitchFamily="18" charset="0"/>
                        </a:rPr>
                        <a:t>Error was displayed</a:t>
                      </a:r>
                      <a:endParaRPr lang="en-IN"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tc>
                  <a:txBody>
                    <a:bodyPr/>
                    <a:lstStyle/>
                    <a:p>
                      <a:pPr marL="3175" marR="385445" indent="-6350" algn="l">
                        <a:lnSpc>
                          <a:spcPct val="107000"/>
                        </a:lnSpc>
                        <a:spcAft>
                          <a:spcPts val="105"/>
                        </a:spcAft>
                      </a:pPr>
                      <a:r>
                        <a:rPr lang="en-IN" sz="1100" b="1" dirty="0">
                          <a:effectLst/>
                          <a:latin typeface="Times New Roman" panose="02020603050405020304" pitchFamily="18" charset="0"/>
                          <a:cs typeface="Times New Roman" panose="02020603050405020304" pitchFamily="18" charset="0"/>
                        </a:rPr>
                        <a:t>      </a:t>
                      </a:r>
                      <a:r>
                        <a:rPr lang="en-IN" sz="1100" b="0" dirty="0">
                          <a:effectLst/>
                          <a:latin typeface="Times New Roman" panose="02020603050405020304" pitchFamily="18" charset="0"/>
                          <a:cs typeface="Times New Roman" panose="02020603050405020304" pitchFamily="18" charset="0"/>
                        </a:rPr>
                        <a:t>Fail</a:t>
                      </a:r>
                      <a:endParaRPr lang="en-IN" sz="1100"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795" marR="0" marT="4213" marB="0"/>
                </a:tc>
                <a:extLst>
                  <a:ext uri="{0D108BD9-81ED-4DB2-BD59-A6C34878D82A}">
                    <a16:rowId xmlns:a16="http://schemas.microsoft.com/office/drawing/2014/main" val="3118739210"/>
                  </a:ext>
                </a:extLst>
              </a:tr>
            </a:tbl>
          </a:graphicData>
        </a:graphic>
      </p:graphicFrame>
    </p:spTree>
    <p:extLst>
      <p:ext uri="{BB962C8B-B14F-4D97-AF65-F5344CB8AC3E}">
        <p14:creationId xmlns:p14="http://schemas.microsoft.com/office/powerpoint/2010/main" val="1737826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259E-5875-CB87-9300-703AFB709B04}"/>
              </a:ext>
            </a:extLst>
          </p:cNvPr>
          <p:cNvSpPr>
            <a:spLocks noGrp="1"/>
          </p:cNvSpPr>
          <p:nvPr>
            <p:ph type="title"/>
          </p:nvPr>
        </p:nvSpPr>
        <p:spPr>
          <a:xfrm>
            <a:off x="1791066" y="638178"/>
            <a:ext cx="8911687" cy="1280890"/>
          </a:xfrm>
        </p:spPr>
        <p:txBody>
          <a:bodyPr>
            <a:normAutofit/>
          </a:bodyPr>
          <a:lstStyle/>
          <a:p>
            <a:pPr algn="ctr"/>
            <a:r>
              <a:rPr lang="en-US" sz="3200" dirty="0">
                <a:latin typeface="Times New Roman" panose="02020603050405020304" pitchFamily="18" charset="0"/>
                <a:cs typeface="Times New Roman" panose="02020603050405020304" pitchFamily="18" charset="0"/>
              </a:rPr>
              <a:t>Screenshots</a:t>
            </a:r>
          </a:p>
        </p:txBody>
      </p:sp>
      <p:pic>
        <p:nvPicPr>
          <p:cNvPr id="7" name="Content Placeholder 6">
            <a:extLst>
              <a:ext uri="{FF2B5EF4-FFF2-40B4-BE49-F238E27FC236}">
                <a16:creationId xmlns:a16="http://schemas.microsoft.com/office/drawing/2014/main" id="{AAA21B22-34CF-8F39-A0E5-208CA80B3C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7555" y="2021633"/>
            <a:ext cx="7432811" cy="4127240"/>
          </a:xfrm>
        </p:spPr>
      </p:pic>
    </p:spTree>
    <p:extLst>
      <p:ext uri="{BB962C8B-B14F-4D97-AF65-F5344CB8AC3E}">
        <p14:creationId xmlns:p14="http://schemas.microsoft.com/office/powerpoint/2010/main" val="1552001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E4D4AF-0205-46DA-DEB2-209574ED4182}"/>
              </a:ext>
            </a:extLst>
          </p:cNvPr>
          <p:cNvSpPr>
            <a:spLocks noGrp="1"/>
          </p:cNvSpPr>
          <p:nvPr>
            <p:ph type="body" idx="1"/>
          </p:nvPr>
        </p:nvSpPr>
        <p:spPr/>
        <p:txBody>
          <a:bodyPr/>
          <a:lstStyle/>
          <a:p>
            <a:endParaRPr lang="en-IN" dirty="0"/>
          </a:p>
        </p:txBody>
      </p:sp>
      <p:pic>
        <p:nvPicPr>
          <p:cNvPr id="4" name="Content Placeholder 3">
            <a:extLst>
              <a:ext uri="{FF2B5EF4-FFF2-40B4-BE49-F238E27FC236}">
                <a16:creationId xmlns:a16="http://schemas.microsoft.com/office/drawing/2014/main" id="{5949E9F2-6639-B653-4868-704A4461A53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59513" y="1575580"/>
            <a:ext cx="7786647" cy="4375053"/>
          </a:xfrm>
          <a:prstGeom prst="rect">
            <a:avLst/>
          </a:prstGeom>
        </p:spPr>
      </p:pic>
    </p:spTree>
    <p:extLst>
      <p:ext uri="{BB962C8B-B14F-4D97-AF65-F5344CB8AC3E}">
        <p14:creationId xmlns:p14="http://schemas.microsoft.com/office/powerpoint/2010/main" val="4212263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7514A-EB1B-ADA8-19B0-808D0AAB0D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1354" y="895739"/>
            <a:ext cx="8472196" cy="4310743"/>
          </a:xfrm>
          <a:prstGeom prst="rect">
            <a:avLst/>
          </a:prstGeom>
        </p:spPr>
      </p:pic>
    </p:spTree>
    <p:extLst>
      <p:ext uri="{BB962C8B-B14F-4D97-AF65-F5344CB8AC3E}">
        <p14:creationId xmlns:p14="http://schemas.microsoft.com/office/powerpoint/2010/main" val="715253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902B4B-E160-3965-02E0-41D219ECDF0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61844" y="1487456"/>
            <a:ext cx="7897785" cy="4435041"/>
          </a:xfrm>
          <a:prstGeom prst="rect">
            <a:avLst/>
          </a:prstGeom>
        </p:spPr>
      </p:pic>
    </p:spTree>
    <p:extLst>
      <p:ext uri="{BB962C8B-B14F-4D97-AF65-F5344CB8AC3E}">
        <p14:creationId xmlns:p14="http://schemas.microsoft.com/office/powerpoint/2010/main" val="2478494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934655-9C58-6F7C-2C99-0BEC0AC0F1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0439" y="1331650"/>
            <a:ext cx="8504808" cy="4997712"/>
          </a:xfrm>
          <a:prstGeom prst="rect">
            <a:avLst/>
          </a:prstGeom>
        </p:spPr>
      </p:pic>
    </p:spTree>
    <p:extLst>
      <p:ext uri="{BB962C8B-B14F-4D97-AF65-F5344CB8AC3E}">
        <p14:creationId xmlns:p14="http://schemas.microsoft.com/office/powerpoint/2010/main" val="3483764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E3040-C4AF-AA30-845C-3173164F3961}"/>
              </a:ext>
            </a:extLst>
          </p:cNvPr>
          <p:cNvSpPr>
            <a:spLocks noGrp="1"/>
          </p:cNvSpPr>
          <p:nvPr>
            <p:ph type="title"/>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258F70B-3E98-D833-2D68-56B615E82A18}"/>
              </a:ext>
            </a:extLst>
          </p:cNvPr>
          <p:cNvSpPr>
            <a:spLocks noGrp="1"/>
          </p:cNvSpPr>
          <p:nvPr>
            <p:ph idx="1"/>
          </p:nvPr>
        </p:nvSpPr>
        <p:spPr/>
        <p:txBody>
          <a:bodyPr>
            <a:normAutofit fontScale="85000" lnSpcReduction="10000"/>
          </a:bodyPr>
          <a:lstStyle/>
          <a:p>
            <a:pPr marL="285115" marR="381635" indent="-6350" algn="just">
              <a:lnSpc>
                <a:spcPct val="152000"/>
              </a:lnSpc>
              <a:spcAft>
                <a:spcPts val="965"/>
              </a:spcAft>
            </a:pPr>
            <a:r>
              <a:rPr lang="en-IN" sz="1600" dirty="0">
                <a:solidFill>
                  <a:srgbClr val="000000"/>
                </a:solidFill>
                <a:effectLst/>
                <a:latin typeface="Times New Roman" panose="02020603050405020304" pitchFamily="18" charset="0"/>
                <a:ea typeface="Times New Roman" panose="02020603050405020304" pitchFamily="18" charset="0"/>
              </a:rPr>
              <a:t> In conclusion, the development of a brain tumour detection system based on CNNs represents a significant advancement in medical imaging technology. The successful implementation of this system could improve the accuracy and speed of brain tumour diagnosis, leading to better patient outcomes. </a:t>
            </a:r>
          </a:p>
          <a:p>
            <a:pPr marL="285115" marR="381635" indent="-6350" algn="just">
              <a:lnSpc>
                <a:spcPct val="152000"/>
              </a:lnSpc>
              <a:spcAft>
                <a:spcPts val="965"/>
              </a:spcAft>
            </a:pPr>
            <a:r>
              <a:rPr lang="en-IN" sz="1600" dirty="0">
                <a:solidFill>
                  <a:srgbClr val="000000"/>
                </a:solidFill>
                <a:effectLst/>
                <a:latin typeface="Times New Roman" panose="02020603050405020304" pitchFamily="18" charset="0"/>
                <a:ea typeface="Times New Roman" panose="02020603050405020304" pitchFamily="18" charset="0"/>
              </a:rPr>
              <a:t>The use of transfer learning techniques and CNN architecture has demonstrated high precision and accuracy in detecting brain tumours in medical images.</a:t>
            </a:r>
            <a:r>
              <a:rPr lang="en-IN" sz="1600" dirty="0">
                <a:solidFill>
                  <a:srgbClr val="000000"/>
                </a:solidFill>
                <a:latin typeface="Times New Roman" panose="02020603050405020304" pitchFamily="18" charset="0"/>
                <a:ea typeface="Times New Roman" panose="02020603050405020304" pitchFamily="18" charset="0"/>
              </a:rPr>
              <a:t> </a:t>
            </a:r>
            <a:r>
              <a:rPr lang="en-IN" sz="1600" dirty="0">
                <a:solidFill>
                  <a:srgbClr val="000000"/>
                </a:solidFill>
                <a:effectLst/>
                <a:latin typeface="Times New Roman" panose="02020603050405020304" pitchFamily="18" charset="0"/>
                <a:ea typeface="Times New Roman" panose="02020603050405020304" pitchFamily="18" charset="0"/>
              </a:rPr>
              <a:t>This system has the potential to assist medical professionals in making timely and accurate diagnoses, which can help improve patient survival rates and quality of life. </a:t>
            </a:r>
          </a:p>
          <a:p>
            <a:pPr marL="285115" marR="381635" indent="-6350" algn="just">
              <a:lnSpc>
                <a:spcPct val="152000"/>
              </a:lnSpc>
              <a:spcAft>
                <a:spcPts val="965"/>
              </a:spcAft>
            </a:pPr>
            <a:r>
              <a:rPr lang="en-IN" sz="1600" dirty="0">
                <a:solidFill>
                  <a:srgbClr val="000000"/>
                </a:solidFill>
                <a:effectLst/>
                <a:latin typeface="Times New Roman" panose="02020603050405020304" pitchFamily="18" charset="0"/>
                <a:ea typeface="Times New Roman" panose="02020603050405020304" pitchFamily="18" charset="0"/>
              </a:rPr>
              <a:t>Future research in this area could explore the use of other CNN architectures and incorporate more extensive datasets to improve the accuracy and reliability of the system. Additionally, efforts could be made to integrate the system with electronic medical record systems to streamline the process of accessing and </a:t>
            </a:r>
            <a:r>
              <a:rPr lang="en-IN" sz="1600" dirty="0" err="1">
                <a:solidFill>
                  <a:srgbClr val="000000"/>
                </a:solidFill>
                <a:effectLst/>
                <a:latin typeface="Times New Roman" panose="02020603050405020304" pitchFamily="18" charset="0"/>
                <a:ea typeface="Times New Roman" panose="02020603050405020304" pitchFamily="18" charset="0"/>
              </a:rPr>
              <a:t>analyzing</a:t>
            </a:r>
            <a:r>
              <a:rPr lang="en-IN" sz="1600" dirty="0">
                <a:solidFill>
                  <a:srgbClr val="000000"/>
                </a:solidFill>
                <a:effectLst/>
                <a:latin typeface="Times New Roman" panose="02020603050405020304" pitchFamily="18" charset="0"/>
                <a:ea typeface="Times New Roman" panose="02020603050405020304" pitchFamily="18" charset="0"/>
              </a:rPr>
              <a:t> medical images. </a:t>
            </a:r>
          </a:p>
        </p:txBody>
      </p:sp>
    </p:spTree>
    <p:extLst>
      <p:ext uri="{BB962C8B-B14F-4D97-AF65-F5344CB8AC3E}">
        <p14:creationId xmlns:p14="http://schemas.microsoft.com/office/powerpoint/2010/main" val="1596237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13B1B-3D6B-BD92-4339-876921DBEAAA}"/>
              </a:ext>
            </a:extLst>
          </p:cNvPr>
          <p:cNvSpPr>
            <a:spLocks noGrp="1"/>
          </p:cNvSpPr>
          <p:nvPr>
            <p:ph idx="1"/>
          </p:nvPr>
        </p:nvSpPr>
        <p:spPr>
          <a:xfrm>
            <a:off x="838200" y="466725"/>
            <a:ext cx="10515600" cy="5710238"/>
          </a:xfrm>
        </p:spPr>
        <p:txBody>
          <a:bodyPr>
            <a:normAutofit/>
          </a:bodyPr>
          <a:lstStyle/>
          <a:p>
            <a:pPr marL="0" indent="0" algn="ctr">
              <a:buNone/>
            </a:pPr>
            <a:endParaRPr lang="en-IN" sz="6000" dirty="0">
              <a:latin typeface="Times New Roman" panose="02020603050405020304" pitchFamily="18" charset="0"/>
              <a:cs typeface="Times New Roman" panose="02020603050405020304" pitchFamily="18" charset="0"/>
            </a:endParaRPr>
          </a:p>
          <a:p>
            <a:pPr marL="0" indent="0" algn="ctr">
              <a:buNone/>
            </a:pPr>
            <a:endParaRPr lang="en-IN" sz="6000" dirty="0">
              <a:latin typeface="Times New Roman" panose="02020603050405020304" pitchFamily="18" charset="0"/>
              <a:cs typeface="Times New Roman" panose="02020603050405020304" pitchFamily="18" charset="0"/>
            </a:endParaRPr>
          </a:p>
          <a:p>
            <a:pPr marL="0" indent="0" algn="ctr">
              <a:buNone/>
            </a:pPr>
            <a:r>
              <a:rPr lang="en-IN" sz="6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53239430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{F6BFE11E-EE10-5A4F-A27A-D96BF4DD205B}tf10001069</Template>
  <TotalTime>1895</TotalTime>
  <Words>1179</Words>
  <Application>Microsoft Office PowerPoint</Application>
  <PresentationFormat>Widescreen</PresentationFormat>
  <Paragraphs>121</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Century Gothic</vt:lpstr>
      <vt:lpstr>Times New Roman</vt:lpstr>
      <vt:lpstr>Wingdings 3</vt:lpstr>
      <vt:lpstr>Wisp</vt:lpstr>
      <vt:lpstr>BRAIN TUMOUR DETECTION USING CNN ALGORITHM</vt:lpstr>
      <vt:lpstr>INDEX</vt:lpstr>
      <vt:lpstr>ABSTRACT</vt:lpstr>
      <vt:lpstr>EXISTING SYSTEM</vt:lpstr>
      <vt:lpstr>DISADVANTAGES</vt:lpstr>
      <vt:lpstr>PROPOSED SYSTEM</vt:lpstr>
      <vt:lpstr>ADVANTAGES</vt:lpstr>
      <vt:lpstr>SYSTEM ARCHITECTURE</vt:lpstr>
      <vt:lpstr>ALGORITHM AND DESCRIPTION </vt:lpstr>
      <vt:lpstr>PowerPoint Presentation</vt:lpstr>
      <vt:lpstr>PowerPoint Presentation</vt:lpstr>
      <vt:lpstr>FUNCTIONAL REQUIREMENTS</vt:lpstr>
      <vt:lpstr> NON-FUNCTIONAL REQUIREMENTS</vt:lpstr>
      <vt:lpstr>                  SYSTEM REQUIREMENT SPECIFICATIONS</vt:lpstr>
      <vt:lpstr>     UML Diagrams Usecase diagram :</vt:lpstr>
      <vt:lpstr>Class diagram:</vt:lpstr>
      <vt:lpstr>Sequence diagram :</vt:lpstr>
      <vt:lpstr>Collaboration diagram :</vt:lpstr>
      <vt:lpstr>Activity diagram :</vt:lpstr>
      <vt:lpstr>Test case specification table</vt:lpstr>
      <vt:lpstr>Screenshots</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IDENTIFICATION BY FACE RECOGNITION USING CNN</dc:title>
  <dc:creator>madina basha mohammad</dc:creator>
  <cp:lastModifiedBy>DIVYA TEJA KAKI</cp:lastModifiedBy>
  <cp:revision>82</cp:revision>
  <dcterms:created xsi:type="dcterms:W3CDTF">2023-06-11T05:32:16Z</dcterms:created>
  <dcterms:modified xsi:type="dcterms:W3CDTF">2024-05-03T06:26:56Z</dcterms:modified>
</cp:coreProperties>
</file>